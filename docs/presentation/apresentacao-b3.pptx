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4eb4ff924347a9" /><Relationship Type="http://schemas.openxmlformats.org/officeDocument/2006/relationships/extended-properties" Target="/docProps/app.xml" Id="R033b3495b4654143" /><Relationship Type="http://schemas.openxmlformats.org/officeDocument/2006/relationships/officeDocument" Target="/ppt/presentation.xml" Id="R0acd0fd1b21240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6aa22f5ac3416c"/>
  </p:sldMasterIdLst>
  <p:notesMasterIdLst>
    <p:notesMasterId xmlns:r="http://schemas.openxmlformats.org/officeDocument/2006/relationships" r:id="R50507d69c5c24306"/>
  </p:notesMasterIdLst>
  <p:sldIdLst>
    <p:sldId xmlns:r="http://schemas.openxmlformats.org/officeDocument/2006/relationships" id="256" r:id="R36428ee9ae4343a9"/>
    <p:sldId xmlns:r="http://schemas.openxmlformats.org/officeDocument/2006/relationships" id="257" r:id="R68489a9e1e6644f9"/>
    <p:sldId xmlns:r="http://schemas.openxmlformats.org/officeDocument/2006/relationships" id="258" r:id="R4d106bb86a56449a"/>
    <p:sldId xmlns:r="http://schemas.openxmlformats.org/officeDocument/2006/relationships" id="259" r:id="Rfa4bb41cdb2a4ab8"/>
    <p:sldId xmlns:r="http://schemas.openxmlformats.org/officeDocument/2006/relationships" id="260" r:id="R36adf356c9df4cb6"/>
    <p:sldId xmlns:r="http://schemas.openxmlformats.org/officeDocument/2006/relationships" id="261" r:id="R905dadcf96964946"/>
    <p:sldId xmlns:r="http://schemas.openxmlformats.org/officeDocument/2006/relationships" id="262" r:id="Rf684eceb08dd48bc"/>
    <p:sldId xmlns:r="http://schemas.openxmlformats.org/officeDocument/2006/relationships" id="263" r:id="Ra5564ca015b34abf"/>
    <p:sldId xmlns:r="http://schemas.openxmlformats.org/officeDocument/2006/relationships" id="264" r:id="Rb971471b2e3d4471"/>
    <p:sldId xmlns:r="http://schemas.openxmlformats.org/officeDocument/2006/relationships" id="265" r:id="Re250c197cacd482f"/>
    <p:sldId xmlns:r="http://schemas.openxmlformats.org/officeDocument/2006/relationships" id="266" r:id="Ra5824865b11f464b"/>
    <p:sldId xmlns:r="http://schemas.openxmlformats.org/officeDocument/2006/relationships" id="267" r:id="Rd1ad8a68bc82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53f829be824aa9" /><Relationship Type="http://schemas.openxmlformats.org/officeDocument/2006/relationships/slideMaster" Target="/ppt/slideMasters/slideMaster1.xml" Id="R596aa22f5ac3416c" /><Relationship Type="http://schemas.openxmlformats.org/officeDocument/2006/relationships/notesMaster" Target="/ppt/notesMasters/notesMaster1.xml" Id="R50507d69c5c24306" /><Relationship Type="http://schemas.openxmlformats.org/officeDocument/2006/relationships/presProps" Target="/ppt/presProps.xml" Id="R31e246ba6ff641d9" /><Relationship Type="http://schemas.openxmlformats.org/officeDocument/2006/relationships/tableStyles" Target="/ppt/tableStyles.xml" Id="R80c738297d4e485f" /><Relationship Type="http://schemas.openxmlformats.org/officeDocument/2006/relationships/slide" Target="/ppt/slides/slide1.xml" Id="R36428ee9ae4343a9" /><Relationship Type="http://schemas.openxmlformats.org/officeDocument/2006/relationships/slide" Target="/ppt/slides/slide2.xml" Id="R68489a9e1e6644f9" /><Relationship Type="http://schemas.openxmlformats.org/officeDocument/2006/relationships/slide" Target="/ppt/slides/slide3.xml" Id="R4d106bb86a56449a" /><Relationship Type="http://schemas.openxmlformats.org/officeDocument/2006/relationships/slide" Target="/ppt/slides/slide4.xml" Id="Rfa4bb41cdb2a4ab8" /><Relationship Type="http://schemas.openxmlformats.org/officeDocument/2006/relationships/slide" Target="/ppt/slides/slide5.xml" Id="R36adf356c9df4cb6" /><Relationship Type="http://schemas.openxmlformats.org/officeDocument/2006/relationships/slide" Target="/ppt/slides/slide6.xml" Id="R905dadcf96964946" /><Relationship Type="http://schemas.openxmlformats.org/officeDocument/2006/relationships/slide" Target="/ppt/slides/slide7.xml" Id="Rf684eceb08dd48bc" /><Relationship Type="http://schemas.openxmlformats.org/officeDocument/2006/relationships/slide" Target="/ppt/slides/slide8.xml" Id="Ra5564ca015b34abf" /><Relationship Type="http://schemas.openxmlformats.org/officeDocument/2006/relationships/slide" Target="/ppt/slides/slide9.xml" Id="Rb971471b2e3d4471" /><Relationship Type="http://schemas.openxmlformats.org/officeDocument/2006/relationships/slide" Target="/ppt/slides/slide10.xml" Id="Re250c197cacd482f" /><Relationship Type="http://schemas.openxmlformats.org/officeDocument/2006/relationships/slide" Target="/ppt/slides/slide11.xml" Id="Ra5824865b11f464b" /><Relationship Type="http://schemas.openxmlformats.org/officeDocument/2006/relationships/slide" Target="/ppt/slides/slide12.xml" Id="Rd1ad8a68bc82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920823d1b746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1da2b61862492c" /><Relationship Type="http://schemas.openxmlformats.org/officeDocument/2006/relationships/notesMaster" Target="/ppt/notesMasters/notesMaster1.xml" Id="Ra84f3e99553441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b237cee4644845" /><Relationship Type="http://schemas.openxmlformats.org/officeDocument/2006/relationships/notesMaster" Target="/ppt/notesMasters/notesMaster1.xml" Id="R31aff61d40d942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c7edf172c4e0e" /><Relationship Type="http://schemas.openxmlformats.org/officeDocument/2006/relationships/notesMaster" Target="/ppt/notesMasters/notesMaster1.xml" Id="Rdbc84d123281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8b1d26da4c4421" /><Relationship Type="http://schemas.openxmlformats.org/officeDocument/2006/relationships/notesMaster" Target="/ppt/notesMasters/notesMaster1.xml" Id="R0a3dfb98f37141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8bd4e9c2144e69" /><Relationship Type="http://schemas.openxmlformats.org/officeDocument/2006/relationships/notesMaster" Target="/ppt/notesMasters/notesMaster1.xml" Id="R4597d956c2804f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ce969db7be4bea" /><Relationship Type="http://schemas.openxmlformats.org/officeDocument/2006/relationships/notesMaster" Target="/ppt/notesMasters/notesMaster1.xml" Id="Rb3ffc9496cbe46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ddce7705424fb9" /><Relationship Type="http://schemas.openxmlformats.org/officeDocument/2006/relationships/notesMaster" Target="/ppt/notesMasters/notesMaster1.xml" Id="Rc0c60a70ce4c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37751a927146d1" /><Relationship Type="http://schemas.openxmlformats.org/officeDocument/2006/relationships/notesMaster" Target="/ppt/notesMasters/notesMaster1.xml" Id="R5203076027134c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cb168a5d6c405b" /><Relationship Type="http://schemas.openxmlformats.org/officeDocument/2006/relationships/notesMaster" Target="/ppt/notesMasters/notesMaster1.xml" Id="Rcc2a8db0a9eb47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d37d0dd1964091" /><Relationship Type="http://schemas.openxmlformats.org/officeDocument/2006/relationships/notesMaster" Target="/ppt/notesMasters/notesMaster1.xml" Id="R88f06a2d1c6341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e9de7620324277" /><Relationship Type="http://schemas.openxmlformats.org/officeDocument/2006/relationships/notesMaster" Target="/ppt/notesMasters/notesMaster1.xml" Id="R5c870dbbb6fa4c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1e858dd1374137" /><Relationship Type="http://schemas.openxmlformats.org/officeDocument/2006/relationships/notesMaster" Target="/ppt/notesMasters/notesMaster1.xml" Id="R83c4b1dbc677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é uma prova de conceito pessoal, com código público e dados fictícios. A proposta é discutir como agentes de código entram em um processo de engenharia com critérios verificáveis. Os casos para a B3 são sugestões para avaliação das equipes, sem representar adoção ou aprovação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ganho de produtividade ainda é uma hipótese. Começamos com uma mudança que alguém consegue revisar e com critérios que a automação consegue verificar. Uma tarefa extensa, com regra ambígua ou sem ambiente executável, dificulta atribuir sucesso e custo ao agente. O catálogo serve como laboratório para esse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fluxo controlado, a geração não recebe o token de escrita que publica a PR. O modelo prepara os arquivos. O workflow avalia o escopo e executa testes antes de um job separado publicar o patch. Os comandos /oc e @claude usam CLIs não interativas e o mesmo publisher isolado. Essa garantia depende dos controles do workflow, não somente do prompt. O merge continua uma decisão humana, salvo uma autorização explícita para esta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https://github.com/lucasnscr/issue-to-pr-ai/actions/runs/39537190954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primeiro o comportamento observável da aplicação pelo Swagger ou por chamadas HTTP. A aplicação completa deste demo compreende API, PostgreSQL e infraestrutura, sem uma interface web própria. O diagnóstico histórico validou a API e o banco reais. A demonstração não usa qualquer conexão com dados ou sistemas da B3.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https://github.com/lucasnscr/issue-to-pr-ai/actions/runs/39540969370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3:30–4:50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primeira chamada autenticada ao modelo gerou uma implementação, mas seis testes de integração falharam. A pipeline bloqueou a publicação. A análise das falhas gerou instruções corrigidas para a segunda tentativa. A execução seguinte passou e originou a PR #3. Os 60 testes pertencem à CI dessa PR: 28 Java e 32 Node. Isso não mede qualidade universal e não demonstra correção autônoma. O registro histórico levou cerca de seis minutos para geração e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https://github.com/lucasnscr/issue-to-pr-ai/actions/runs/39536145613</a:t>
            </a:r>
          </a:p>
          <a:p xmlns:a="http://schemas.openxmlformats.org/drawingml/2006/main">
            <a:r>
              <a:t>https://github.com/lucasnscr/issue-to-pr-ai/actions/runs/39537190954</a:t>
            </a:r>
          </a:p>
          <a:p xmlns:a="http://schemas.openxmlformats.org/drawingml/2006/main">
            <a:r>
              <a:t>https://github.com/lucasnscr/issue-to-pr-ai/pull/3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4:50–6:10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portal público B3 for Developers disponibiliza documentação de APIs B2B. A partir desse contexto público, proponho discutir tarefas de engenharia que tenham escopo e aceite claros. Nenhuma linha desta tabela descreve um projeto interno existente. Para um primeiro piloto, usar repositório de laboratório e dados sintéticos. Precisão de domínio e decisão de entrega continuam com as pessoas responsáveis.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https://developers.b3.com.br/</a:t>
            </a:r>
          </a:p>
          <a:p xmlns:a="http://schemas.openxmlformats.org/drawingml/2006/main">
            <a:r>
              <a:t>https://github.com/lucasnscr/issue-to-pr-ai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6:10–7:20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faixa de preço é um exemplo da evolução atual. Mostrar a issue e seus critérios antes de mostrar o código. A comparação usa BigDecimal, os filtros precisam preservar o total e o contrato OpenAPI precisa documentar o comportamento. As regras são do catálogo de laboratório. O resultado da execução aparece no slide de evidências e só deve ser anunciado como concluído quando os links comprovarem o aceite.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https://github.com/lucasnscr/issue-to-pr-ai/pull/17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7:20–8:30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projeto não exige que a ferramenta seja Claude Code. OpenCode foi a ferramenta do teste histórico, usando um modelo Anthropic. Cursor é outra ferramenta possível. A escolha depende de integração, acesso, operação e termos do provedor. Rodar uma CLI localmente ou em runner próprio não prova que a inferência acontece dentro da organização. O mesmo modelo pode não estar disponível em todos os produtos.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https://cursor.com/docs/cli/headless</a:t>
            </a:r>
          </a:p>
          <a:p xmlns:a="http://schemas.openxmlformats.org/drawingml/2006/main">
            <a:r>
              <a:t>https://cursor.com/docs/cloud-agent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8:30–9:50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documentação atual do Cursor oferece modo headless e integração com GitHub Actions. O comando é agent, com -p para execução não interativa, e --force permite modificar arquivos. A adaptação proposta manteria a publicação fora do agente. Cloud Agents oferecem outro caminho, com ambientes próprios e integração GitHub/API. Neste repositório, não declaramos um teste autenticado do Cursor sem credencial e execução. Privacy Mode e controles do produto precisam de avaliação interna conforme o contrato e a configuração escolhidos.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https://cursor.com/docs/cli/headless</a:t>
            </a:r>
          </a:p>
          <a:p xmlns:a="http://schemas.openxmlformats.org/drawingml/2006/main">
            <a:r>
              <a:t>https://cursor.com/docs/cli/github-actions</a:t>
            </a:r>
          </a:p>
          <a:p xmlns:a="http://schemas.openxmlformats.org/drawingml/2006/main">
            <a:r>
              <a:t>https://cursor.com/docs/cloud-agent</a:t>
            </a:r>
          </a:p>
          <a:p xmlns:a="http://schemas.openxmlformats.org/drawingml/2006/main">
            <a:r>
              <a:t>https://cursor.com/docs/cloud-agent/api/endpoints</a:t>
            </a:r>
          </a:p>
          <a:p xmlns:a="http://schemas.openxmlformats.org/drawingml/2006/main">
            <a:r>
              <a:t>https://cursor.com/data-use</a:t>
            </a:r>
          </a:p>
          <a:p xmlns:a="http://schemas.openxmlformats.org/drawingml/2006/main">
            <a:r>
              <a:t>https://cursor.com/security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9:50–11:00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slide descreve o desenho de um piloto. A main exige PR e checks, inclusive para o administrador. O laboratório tem um mantenedor e zero aprovações adicionais. O usuário autorizou explicitamente estes merges, executados pelo Codex. Isso não representa revisão técnica humana independente. O piloto corporativo precisa configurar responsáveis e aprovação independente. Timeout e número de etapas reduzem execução ilimitada, mas não equivalem a um teto monetário garantido por todos os provedores. Telemetria deve distinguir consumo informado, estimado e indisponível. Ferramentas e políticas de dados precisam de avaliação da organização antes de usar código interno.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https://cursor.com/security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11:00–13:20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a nova issue, a execução e a PR pelos links do arquivo evidence.json. Mostrar o Swagger e o teste HTTP correspondente. Se algum item continuar pendente, tratar como próximo passo e usar a execução histórica como demonstração de reserva. A API e o PostgreSQL passaram por implantação real em kind. vLLM e ARC permanecem sem execução real, pois o escopo deste laboratório não inclui GPU nem credenciais de GitHub App. O resultado do comando /oc no fluxo controlado é: /oc validado por comentário com publicação isolada. Claude Code: @claude validado por comentário, com 67 testes Java. Main: Código, fluxos e PRs #14 e #17 integrados à main. Governança: Política aplicada, tokens e custo estimado coletados.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https://github.com/lucasnscr/issue-to-pr-ai/pull/17</a:t>
            </a:r>
          </a:p>
          <a:p xmlns:a="http://schemas.openxmlformats.org/drawingml/2006/main">
            <a:r>
              <a:t>https://github.com/lucasnscr/issue-to-pr-ai/actions/runs/39540969370</a:t>
            </a:r>
          </a:p>
          <a:p xmlns:a="http://schemas.openxmlformats.org/drawingml/2006/main">
            <a:r>
              <a:t>https://github.com/lucasnscr/issue-to-pr-ai/actions/runs/39540969370</a:t>
            </a:r>
          </a:p>
          <a:p xmlns:a="http://schemas.openxmlformats.org/drawingml/2006/main">
            <a:r>
              <a:t>https://github.com/lucasnscr/issue-to-pr-ai/actions/runs/39542150017</a:t>
            </a:r>
          </a:p>
          <a:p xmlns:a="http://schemas.openxmlformats.org/drawingml/2006/main">
            <a:r>
              <a:t>https://github.com/lucasnscr/issue-to-pr-ai/pull/17</a:t>
            </a:r>
          </a:p>
          <a:p xmlns:a="http://schemas.openxmlformats.org/drawingml/2006/main">
            <a:r>
              <a:t>https://github.com/lucasnscr/issue-to-pr-ai/pull/17</a:t>
            </a:r>
          </a:p>
          <a:p xmlns:a="http://schemas.openxmlformats.org/drawingml/2006/main">
            <a:r>
              <a:t>https://github.com/lucasnscr/issue-to-pr-ai/actions/runs/39540969370</a:t>
            </a:r>
          </a:p>
          <a:p xmlns:a="http://schemas.openxmlformats.org/drawingml/2006/main">
            <a:r>
              <a:t>https://github.com/lucasnscr/issue-to-pr-ai/actions/runs/39544001615</a:t>
            </a:r>
          </a:p>
          <a:p xmlns:a="http://schemas.openxmlformats.org/drawingml/2006/main">
            <a:r>
              <a:t>https://cursor.com/docs/cli/github-actions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13:20–15:00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proposta de uma equipe, duas semanas e dez issues é um desenho de piloto, não um resultado. Comparar tarefas equivalentes com e sem agente e registrar falhas, retrabalho, custo e esforço de revisão humana. O objetivo da conversa é escolher um caso pequeno e um responsável pelo piloto. O projeto ainda não fornece evidência para prometer uma porcentagem de ganho de produtividade. Reservar o último minuto para discussão.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https://developers.b3.com.br/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8f5650e4949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295095e1d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cf0b81cbb40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4ecba810346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54e567c2b4b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a40aba703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B5DB2E-2932-40BF-80ED-CBB10C6383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6F8CA0-3FC2-4C04-8C48-1A857568EE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A1BFA4-371C-48A2-8D67-6038613BE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D85BB8-9516-44C0-A704-CA21043B54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2B17E5-6D1C-470E-808D-44AFDD9C7C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BAD06B-73C7-4120-82DF-445CE4E4B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3541D2-0009-429D-BA0E-0754C909C1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58DEC5-E5F0-4798-A347-4639597749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362A82-06F6-431E-BD0D-0721CEB80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2F84CC-CAB0-41AB-BAD7-CE7912A75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61ba1521a44bb7" /><Relationship Type="http://schemas.openxmlformats.org/officeDocument/2006/relationships/slideLayout" Target="/ppt/slideLayouts/slideLayout1.xml" Id="Rb693d3c958c84a15" /><Relationship Type="http://schemas.openxmlformats.org/officeDocument/2006/relationships/slideLayout" Target="/ppt/slideLayouts/slideLayout2.xml" Id="Rb2778716eaa44955" /><Relationship Type="http://schemas.openxmlformats.org/officeDocument/2006/relationships/slideLayout" Target="/ppt/slideLayouts/slideLayout3.xml" Id="R7e60a63679774701" /><Relationship Type="http://schemas.openxmlformats.org/officeDocument/2006/relationships/slideLayout" Target="/ppt/slideLayouts/slideLayout4.xml" Id="R7547758f146f4047" /><Relationship Type="http://schemas.openxmlformats.org/officeDocument/2006/relationships/slideLayout" Target="/ppt/slideLayouts/slideLayout5.xml" Id="Rae8baf1821a841ec" /><Relationship Type="http://schemas.openxmlformats.org/officeDocument/2006/relationships/slideLayout" Target="/ppt/slideLayouts/slideLayout6.xml" Id="Rf7b924589bc847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93d3c958c84a15"/>
    <p:sldLayoutId xmlns:r="http://schemas.openxmlformats.org/officeDocument/2006/relationships" id="2147483650" r:id="Rb2778716eaa44955"/>
    <p:sldLayoutId xmlns:r="http://schemas.openxmlformats.org/officeDocument/2006/relationships" id="2147483651" r:id="R7e60a63679774701"/>
    <p:sldLayoutId xmlns:r="http://schemas.openxmlformats.org/officeDocument/2006/relationships" id="2147483652" r:id="R7547758f146f4047"/>
    <p:sldLayoutId xmlns:r="http://schemas.openxmlformats.org/officeDocument/2006/relationships" id="2147483653" r:id="Rae8baf1821a841ec"/>
    <p:sldLayoutId xmlns:r="http://schemas.openxmlformats.org/officeDocument/2006/relationships" id="2147483654" r:id="Rf7b924589bc847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0c27b67064393" /><Relationship Type="http://schemas.openxmlformats.org/officeDocument/2006/relationships/notesSlide" Target="/ppt/notesSlides/notesSlide1.xml" Id="R69c1254cd7df4f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87fa0284be4128" /><Relationship Type="http://schemas.openxmlformats.org/officeDocument/2006/relationships/notesSlide" Target="/ppt/notesSlides/notesSlide2.xml" Id="Rc758c520deef48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c0a38ca10451f" /><Relationship Type="http://schemas.openxmlformats.org/officeDocument/2006/relationships/notesSlide" Target="/ppt/notesSlides/notesSlide3.xml" Id="Rf7d9ea20b22c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9bfc1f5c442c1" /><Relationship Type="http://schemas.openxmlformats.org/officeDocument/2006/relationships/notesSlide" Target="/ppt/notesSlides/notesSlide4.xml" Id="R9b42ed129e6e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8e702427648fe" /><Relationship Type="http://schemas.openxmlformats.org/officeDocument/2006/relationships/notesSlide" Target="/ppt/notesSlides/notesSlide5.xml" Id="R4f140bcb8e784d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e0bb62da2459b" /><Relationship Type="http://schemas.openxmlformats.org/officeDocument/2006/relationships/notesSlide" Target="/ppt/notesSlides/notesSlide6.xml" Id="Raf95f526d4424b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57ea035e34574" /><Relationship Type="http://schemas.openxmlformats.org/officeDocument/2006/relationships/notesSlide" Target="/ppt/notesSlides/notesSlide7.xml" Id="R8f81c3bfccd24b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6c060444f413b" /><Relationship Type="http://schemas.openxmlformats.org/officeDocument/2006/relationships/notesSlide" Target="/ppt/notesSlides/notesSlide8.xml" Id="Ref77393dc2034c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cbb5099974020" /><Relationship Type="http://schemas.openxmlformats.org/officeDocument/2006/relationships/notesSlide" Target="/ppt/notesSlides/notesSlide9.xml" Id="R5d264490ba1047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31ff7523546ee" /><Relationship Type="http://schemas.openxmlformats.org/officeDocument/2006/relationships/notesSlide" Target="/ppt/notesSlides/notesSlide10.xml" Id="R42654946828644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0b2d68a7b463a" /><Relationship Type="http://schemas.openxmlformats.org/officeDocument/2006/relationships/notesSlide" Target="/ppt/notesSlides/notesSlide11.xml" Id="R14ac2ddf33df45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8d409c88f4d99" /><Relationship Type="http://schemas.openxmlformats.org/officeDocument/2006/relationships/notesSlide" Target="/ppt/notesSlides/notesSlide12.xml" Id="R94e0abd37b4642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 / 12">
            <a:extLst xmlns:a="http://schemas.openxmlformats.org/drawingml/2006/main">
              <a:ext uri="{FF2B5EF4-FFF2-40B4-BE49-F238E27FC236}">
                <a16:creationId xmlns:a16="http://schemas.microsoft.com/office/drawing/2014/main" id="{5F752429-6A33-4637-B30F-00C9A59A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  <p:sp>
        <p:nvSpPr>
          <p:cNvPr id="2" name="issue-to-pr-ai">
            <a:extLst xmlns:a="http://schemas.openxmlformats.org/drawingml/2006/main">
              <a:ext uri="{FF2B5EF4-FFF2-40B4-BE49-F238E27FC236}">
                <a16:creationId xmlns:a16="http://schemas.microsoft.com/office/drawing/2014/main" id="{44E3A66F-508C-4BC0-98CD-BFE4540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issue-to-pr-ai</a:t>
            </a:r>
          </a:p>
        </p:txBody>
      </p:sp>
      <p:sp>
        <p:nvSpPr>
          <p:cNvPr id="3" name="Desenvolvimento com IA&#10;e validação independen">
            <a:extLst xmlns:a="http://schemas.openxmlformats.org/drawingml/2006/main">
              <a:ext uri="{FF2B5EF4-FFF2-40B4-BE49-F238E27FC236}">
                <a16:creationId xmlns:a16="http://schemas.microsoft.com/office/drawing/2014/main" id="{DE7E0B69-371B-4BBE-8122-E0CE3B4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Desenvolvimento com IA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validação independente</a:t>
            </a:r>
          </a:p>
        </p:txBody>
      </p:sp>
      <p:sp>
        <p:nvSpPr>
          <p:cNvPr id="4" name="Prova de conceito para discussão entre equipe">
            <a:extLst xmlns:a="http://schemas.openxmlformats.org/drawingml/2006/main">
              <a:ext uri="{FF2B5EF4-FFF2-40B4-BE49-F238E27FC236}">
                <a16:creationId xmlns:a16="http://schemas.microsoft.com/office/drawing/2014/main" id="{515C6D8F-B337-48DC-AC09-7BF0C0FE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Prova de conceito para discussão entre equipes da B3</a:t>
            </a:r>
          </a:p>
        </p:txBody>
      </p:sp>
      <p:sp>
        <p:nvSpPr>
          <p:cNvPr id="5" name="Lucas Silva&#10;22 de outubro de 2026">
            <a:extLst xmlns:a="http://schemas.openxmlformats.org/drawingml/2006/main">
              <a:ext uri="{FF2B5EF4-FFF2-40B4-BE49-F238E27FC236}">
                <a16:creationId xmlns:a16="http://schemas.microsoft.com/office/drawing/2014/main" id="{96E9B102-077F-415B-80B4-6CC95AFA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Lucas Silva</a:t>
            </a:r>
          </a:p>
          <a:p xmlns:a="http://schemas.openxmlformats.org/drawingml/2006/main">
            <a: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22 de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909006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refas pequenas e verificáveis">
            <a:extLst xmlns:a="http://schemas.openxmlformats.org/drawingml/2006/main">
              <a:ext uri="{FF2B5EF4-FFF2-40B4-BE49-F238E27FC236}">
                <a16:creationId xmlns:a16="http://schemas.microsoft.com/office/drawing/2014/main" id="{BD1593B9-A268-4876-BCE3-6FB3EF3E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Tarefas pequenas e verificáveis</a:t>
            </a:r>
          </a:p>
        </p:txBody>
      </p:sp>
      <p:sp>
        <p:nvSpPr>
          <p:cNvPr id="2" name="02 / 12">
            <a:extLst xmlns:a="http://schemas.openxmlformats.org/drawingml/2006/main">
              <a:ext uri="{FF2B5EF4-FFF2-40B4-BE49-F238E27FC236}">
                <a16:creationId xmlns:a16="http://schemas.microsoft.com/office/drawing/2014/main" id="{2511117A-2B94-4AC2-9F11-C1F0A599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3" name="Uma issue define o resultado esperado">
            <a:extLst xmlns:a="http://schemas.openxmlformats.org/drawingml/2006/main">
              <a:ext uri="{FF2B5EF4-FFF2-40B4-BE49-F238E27FC236}">
                <a16:creationId xmlns:a16="http://schemas.microsoft.com/office/drawing/2014/main" id="{54F26EC3-68A0-4876-8AA6-428A0765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Uma issue define o resultado esperado</a:t>
            </a:r>
          </a:p>
        </p:txBody>
      </p:sp>
      <p:sp>
        <p:nvSpPr>
          <p:cNvPr id="4" name="Filtros de API, testes de regressão, exemplos">
            <a:extLst xmlns:a="http://schemas.openxmlformats.org/drawingml/2006/main">
              <a:ext uri="{FF2B5EF4-FFF2-40B4-BE49-F238E27FC236}">
                <a16:creationId xmlns:a16="http://schemas.microsoft.com/office/drawing/2014/main" id="{C9A28CE1-31B2-4790-9613-107027E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Filtros de API, testes de regressão, exemplos de uso e manutenção de dependências oferecem escopos delimitados.</a:t>
            </a:r>
          </a:p>
        </p:txBody>
      </p:sp>
      <p:sp>
        <p:nvSpPr>
          <p:cNvPr id="5" name="Hipótese do piloto: reduzir esforço repetitiv">
            <a:extLst xmlns:a="http://schemas.openxmlformats.org/drawingml/2006/main">
              <a:ext uri="{FF2B5EF4-FFF2-40B4-BE49-F238E27FC236}">
                <a16:creationId xmlns:a16="http://schemas.microsoft.com/office/drawing/2014/main" id="{77DF076E-8357-4E45-8E96-9C7D2733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Hipótese do piloto: reduzir esforço repetitivo sem transferir a decisão de entrega ao agente.</a:t>
            </a:r>
          </a:p>
        </p:txBody>
      </p:sp>
    </p:spTree>
    <p:extLst>
      <p:ext uri="{BB962C8B-B14F-4D97-AF65-F5344CB8AC3E}">
        <p14:creationId xmlns:p14="http://schemas.microsoft.com/office/powerpoint/2010/main" val="71277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luxo de implementação e entrega">
            <a:extLst xmlns:a="http://schemas.openxmlformats.org/drawingml/2006/main">
              <a:ext uri="{FF2B5EF4-FFF2-40B4-BE49-F238E27FC236}">
                <a16:creationId xmlns:a16="http://schemas.microsoft.com/office/drawing/2014/main" id="{56191561-B7A0-453C-A6C0-BB3799C5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Fluxo de implementação e entrega</a:t>
            </a:r>
          </a:p>
        </p:txBody>
      </p:sp>
      <p:sp>
        <p:nvSpPr>
          <p:cNvPr id="2" name="A publicação depende de evidências produzidas">
            <a:extLst xmlns:a="http://schemas.openxmlformats.org/drawingml/2006/main">
              <a:ext uri="{FF2B5EF4-FFF2-40B4-BE49-F238E27FC236}">
                <a16:creationId xmlns:a16="http://schemas.microsoft.com/office/drawing/2014/main" id="{F3D315DE-3504-466E-8239-7B07B54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 publicação depende de evidências produzidas fora da geração</a:t>
            </a:r>
          </a:p>
        </p:txBody>
      </p:sp>
      <p:sp>
        <p:nvSpPr>
          <p:cNvPr id="3" name="03 / 12">
            <a:extLst xmlns:a="http://schemas.openxmlformats.org/drawingml/2006/main">
              <a:ext uri="{FF2B5EF4-FFF2-40B4-BE49-F238E27FC236}">
                <a16:creationId xmlns:a16="http://schemas.microsoft.com/office/drawing/2014/main" id="{FBB663D1-C878-4B46-B9F0-6F54097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500C1-FF84-4E4B-A05E-9932D6D11988}"/>
              </a:ext>
            </a:extLst>
          </p:cNvPr>
          <p:cNvGraphicFramePr/>
          <p:nvPr/>
        </p:nvGraphicFramePr>
        <p:xfrm>
          <a:off xmlns:a="http://schemas.openxmlformats.org/drawingml/2006/main" x="685800" y="21336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90875"/>
                <a:gridCol w="3333750"/>
                <a:gridCol w="4295775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Evidência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Escopo e autorização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Pessoa + gate do workflow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Issue, critérios e permissão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Geração da mudança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Agente + modelo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Patch e registro da execução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CI independente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Testes, imagem e HTTP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Publicação e decisão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Publisher + pessoa revisora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Draft PR, diff e checks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256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licação de catálogo">
            <a:extLst xmlns:a="http://schemas.openxmlformats.org/drawingml/2006/main">
              <a:ext uri="{FF2B5EF4-FFF2-40B4-BE49-F238E27FC236}">
                <a16:creationId xmlns:a16="http://schemas.microsoft.com/office/drawing/2014/main" id="{BB09EF03-CE84-47A8-9D77-136777A5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Aplicação de catálogo</a:t>
            </a:r>
          </a:p>
        </p:txBody>
      </p:sp>
      <p:sp>
        <p:nvSpPr>
          <p:cNvPr id="2" name="Ambiente de demonstração com produtos fictíci">
            <a:extLst xmlns:a="http://schemas.openxmlformats.org/drawingml/2006/main">
              <a:ext uri="{FF2B5EF4-FFF2-40B4-BE49-F238E27FC236}">
                <a16:creationId xmlns:a16="http://schemas.microsoft.com/office/drawing/2014/main" id="{6D26DD1F-DFCE-46C9-82F5-FF71A8C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Ambiente de demonstração com produtos fictícios</a:t>
            </a:r>
          </a:p>
        </p:txBody>
      </p:sp>
      <p:sp>
        <p:nvSpPr>
          <p:cNvPr id="3" name="04 / 12">
            <a:extLst xmlns:a="http://schemas.openxmlformats.org/drawingml/2006/main">
              <a:ext uri="{FF2B5EF4-FFF2-40B4-BE49-F238E27FC236}">
                <a16:creationId xmlns:a16="http://schemas.microsoft.com/office/drawing/2014/main" id="{CC7E67A5-EE62-435E-98BE-8639908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4" name="Swagger e HTTP">
            <a:extLst xmlns:a="http://schemas.openxmlformats.org/drawingml/2006/main">
              <a:ext uri="{FF2B5EF4-FFF2-40B4-BE49-F238E27FC236}">
                <a16:creationId xmlns:a16="http://schemas.microsoft.com/office/drawing/2014/main" id="{6B016984-9903-4246-B5C9-496FD2DE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Swagger e HTTP</a:t>
            </a:r>
          </a:p>
        </p:txBody>
      </p:sp>
      <p:sp>
        <p:nvSpPr>
          <p:cNvPr id="5" name="Cadastro, consulta e filtros">
            <a:extLst xmlns:a="http://schemas.openxmlformats.org/drawingml/2006/main">
              <a:ext uri="{FF2B5EF4-FFF2-40B4-BE49-F238E27FC236}">
                <a16:creationId xmlns:a16="http://schemas.microsoft.com/office/drawing/2014/main" id="{ACA2E216-E9CB-4051-9992-7DBE689F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Cadastro, consulta e filtros</a:t>
            </a:r>
          </a:p>
        </p:txBody>
      </p:sp>
      <p:sp>
        <p:nvSpPr>
          <p:cNvPr id="6" name="API Java 21 + Spring Boot">
            <a:extLst xmlns:a="http://schemas.openxmlformats.org/drawingml/2006/main">
              <a:ext uri="{FF2B5EF4-FFF2-40B4-BE49-F238E27FC236}">
                <a16:creationId xmlns:a16="http://schemas.microsoft.com/office/drawing/2014/main" id="{6C44A159-D49D-433F-866F-251074E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API Java 21 + Spring Boot</a:t>
            </a:r>
          </a:p>
        </p:txBody>
      </p:sp>
      <p:sp>
        <p:nvSpPr>
          <p:cNvPr id="7" name="Validação e contrato OpenAPI&#10;PostgreSQL + mig">
            <a:extLst xmlns:a="http://schemas.openxmlformats.org/drawingml/2006/main">
              <a:ext uri="{FF2B5EF4-FFF2-40B4-BE49-F238E27FC236}">
                <a16:creationId xmlns:a16="http://schemas.microsoft.com/office/drawing/2014/main" id="{159AEF8C-BEF3-418D-A31B-9071C73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52750"/>
            <a:ext cx="552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Validação e contrato OpenAPI</a:t>
            </a:r>
          </a:p>
          <a:p xmlns:a="http://schemas.openxmlformats.org/drawingml/2006/main">
            <a: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PostgreSQL + migrations Flyway</a:t>
            </a:r>
          </a:p>
          <a:p xmlns:a="http://schemas.openxmlformats.org/drawingml/2006/main">
            <a: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Imagem e execução com Docker</a:t>
            </a:r>
          </a:p>
        </p:txBody>
      </p:sp>
      <p:sp>
        <p:nvSpPr>
          <p:cNvPr id="8" name="API, PostgreSQL e Docker validados por HTTP">
            <a:extLst xmlns:a="http://schemas.openxmlformats.org/drawingml/2006/main">
              <a:ext uri="{FF2B5EF4-FFF2-40B4-BE49-F238E27FC236}">
                <a16:creationId xmlns:a16="http://schemas.microsoft.com/office/drawing/2014/main" id="{68C9DC38-5B36-44D7-A5D1-DA81EE25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API, PostgreSQL e Docker validados por HTTP</a:t>
            </a:r>
          </a:p>
        </p:txBody>
      </p:sp>
    </p:spTree>
    <p:extLst>
      <p:ext uri="{BB962C8B-B14F-4D97-AF65-F5344CB8AC3E}">
        <p14:creationId xmlns:p14="http://schemas.microsoft.com/office/powerpoint/2010/main" val="1206208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s testes bloquearam a primeira tentativa">
            <a:extLst xmlns:a="http://schemas.openxmlformats.org/drawingml/2006/main">
              <a:ext uri="{FF2B5EF4-FFF2-40B4-BE49-F238E27FC236}">
                <a16:creationId xmlns:a16="http://schemas.microsoft.com/office/drawing/2014/main" id="{438B585B-8D33-4508-B14C-3E0C71A2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Os testes bloquearam a primeira tentativa</a:t>
            </a:r>
          </a:p>
        </p:txBody>
      </p:sp>
      <p:sp>
        <p:nvSpPr>
          <p:cNvPr id="2" name="A segunda tentativa usou instruções corrigida">
            <a:extLst xmlns:a="http://schemas.openxmlformats.org/drawingml/2006/main">
              <a:ext uri="{FF2B5EF4-FFF2-40B4-BE49-F238E27FC236}">
                <a16:creationId xmlns:a16="http://schemas.microsoft.com/office/drawing/2014/main" id="{11336E76-D7AF-4C06-995E-4B552DD4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 segunda tentativa usou instruções corrigidas sobre as falhas</a:t>
            </a:r>
          </a:p>
        </p:txBody>
      </p:sp>
      <p:sp>
        <p:nvSpPr>
          <p:cNvPr id="3" name="05 / 12">
            <a:extLst xmlns:a="http://schemas.openxmlformats.org/drawingml/2006/main">
              <a:ext uri="{FF2B5EF4-FFF2-40B4-BE49-F238E27FC236}">
                <a16:creationId xmlns:a16="http://schemas.microsoft.com/office/drawing/2014/main" id="{D98E3888-2E93-4718-A3E6-D11B6AB0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A9464-F46C-49BD-B48D-E557A49E7C9C}"/>
              </a:ext>
            </a:extLst>
          </p:cNvPr>
          <p:cNvGraphicFramePr/>
          <p:nvPr/>
        </p:nvGraphicFramePr>
        <p:xfrm>
          <a:off xmlns:a="http://schemas.openxmlformats.org/drawingml/2006/main" x="685800" y="2305050"/>
          <a:ext xmlns:a="http://schemas.openxmlformats.org/drawingml/2006/main" cx="10820400" cy="2524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5048250"/>
                <a:gridCol w="2914650"/>
              </a:tblGrid>
              <a:tr h="552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Execução real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Publicação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Primeira tentativa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6 falhas de integração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Bloqueada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Segunda tentativa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28 testes Java + 32 testes Node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Draft PR #3 criada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5" name="Docker, smoke HTTP e critérios independentes ">
            <a:extLst xmlns:a="http://schemas.openxmlformats.org/drawingml/2006/main">
              <a:ext uri="{FF2B5EF4-FFF2-40B4-BE49-F238E27FC236}">
                <a16:creationId xmlns:a16="http://schemas.microsoft.com/office/drawing/2014/main" id="{93F852E7-53DD-4247-AC00-0715683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Docker, smoke HTTP e critérios independentes completaram a validação da segunda tentativa.</a:t>
            </a:r>
          </a:p>
        </p:txBody>
      </p:sp>
    </p:spTree>
    <p:extLst>
      <p:ext uri="{BB962C8B-B14F-4D97-AF65-F5344CB8AC3E}">
        <p14:creationId xmlns:p14="http://schemas.microsoft.com/office/powerpoint/2010/main" val="456394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sos propostos para equipes da B3">
            <a:extLst xmlns:a="http://schemas.openxmlformats.org/drawingml/2006/main">
              <a:ext uri="{FF2B5EF4-FFF2-40B4-BE49-F238E27FC236}">
                <a16:creationId xmlns:a16="http://schemas.microsoft.com/office/drawing/2014/main" id="{CEB965A6-3A7F-4C77-B5DA-8F925054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Casos propostos para equipes da B3</a:t>
            </a:r>
          </a:p>
        </p:txBody>
      </p:sp>
      <p:sp>
        <p:nvSpPr>
          <p:cNvPr id="2" name="Hipóteses de piloto em laboratório, sujeitas ">
            <a:extLst xmlns:a="http://schemas.openxmlformats.org/drawingml/2006/main">
              <a:ext uri="{FF2B5EF4-FFF2-40B4-BE49-F238E27FC236}">
                <a16:creationId xmlns:a16="http://schemas.microsoft.com/office/drawing/2014/main" id="{DA3F7E2E-E418-40B0-ACEC-204B00ED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Hipóteses de piloto em laboratório, sujeitas à avaliação interna</a:t>
            </a:r>
          </a:p>
        </p:txBody>
      </p:sp>
      <p:sp>
        <p:nvSpPr>
          <p:cNvPr id="3" name="06 / 12">
            <a:extLst xmlns:a="http://schemas.openxmlformats.org/drawingml/2006/main">
              <a:ext uri="{FF2B5EF4-FFF2-40B4-BE49-F238E27FC236}">
                <a16:creationId xmlns:a16="http://schemas.microsoft.com/office/drawing/2014/main" id="{A4B030F5-298E-4031-80ED-E26A323D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368A6-1665-4DE3-AC7A-39895CBB9836}"/>
              </a:ext>
            </a:extLst>
          </p:cNvPr>
          <p:cNvGraphicFramePr/>
          <p:nvPr/>
        </p:nvGraphicFramePr>
        <p:xfrm>
          <a:off xmlns:a="http://schemas.openxmlformats.org/drawingml/2006/main" x="685800" y="2124075"/>
          <a:ext xmlns:a="http://schemas.openxmlformats.org/drawingml/2006/main" cx="10820400" cy="3676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095750"/>
                <a:gridCol w="42481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Exemplo de issue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Aceite verificável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Contratos de APIs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Filtro opcional e validação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Compatibilidade + erros + OpenAPI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Integrações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Regressão em serialização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Fixture fictícia + teste do defeito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Dependências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Atualização de uma biblioteca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Build + testes + análise do diff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Documentação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Exemplo de SDK executável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Exemplo validado contra contrato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38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xemplo de piloto: faixa de preço">
            <a:extLst xmlns:a="http://schemas.openxmlformats.org/drawingml/2006/main">
              <a:ext uri="{FF2B5EF4-FFF2-40B4-BE49-F238E27FC236}">
                <a16:creationId xmlns:a16="http://schemas.microsoft.com/office/drawing/2014/main" id="{DCE5F2C0-7970-476C-8164-5D70B582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Exemplo de piloto: faixa de preço</a:t>
            </a:r>
          </a:p>
        </p:txBody>
      </p:sp>
      <p:sp>
        <p:nvSpPr>
          <p:cNvPr id="2" name="07 / 12">
            <a:extLst xmlns:a="http://schemas.openxmlformats.org/drawingml/2006/main">
              <a:ext uri="{FF2B5EF4-FFF2-40B4-BE49-F238E27FC236}">
                <a16:creationId xmlns:a16="http://schemas.microsoft.com/office/drawing/2014/main" id="{7BAB072B-3257-472B-BF36-9626FC0F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3" name="Uma mudança atravessa contrato, API e banco">
            <a:extLst xmlns:a="http://schemas.openxmlformats.org/drawingml/2006/main">
              <a:ext uri="{FF2B5EF4-FFF2-40B4-BE49-F238E27FC236}">
                <a16:creationId xmlns:a16="http://schemas.microsoft.com/office/drawing/2014/main" id="{5C9A46AB-379C-444B-A5F4-AA64B624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Uma mudança atravessa contrato, API e banco</a:t>
            </a:r>
          </a:p>
        </p:txBody>
      </p:sp>
      <p:sp>
        <p:nvSpPr>
          <p:cNvPr id="4" name="Limites inclusivos e opcionais&#10;Combinação com">
            <a:extLst xmlns:a="http://schemas.openxmlformats.org/drawingml/2006/main">
              <a:ext uri="{FF2B5EF4-FFF2-40B4-BE49-F238E27FC236}">
                <a16:creationId xmlns:a16="http://schemas.microsoft.com/office/drawing/2014/main" id="{A903ACD8-491A-4727-B022-C961CAB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Limites inclusivos e opcionais</a:t>
            </a:r>
          </a:p>
          <a:p xmlns:a="http://schemas.openxmlformats.org/drawingml/2006/main">
            <a: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Combinação com categoria e paginação</a:t>
            </a:r>
          </a:p>
          <a:p xmlns:a="http://schemas.openxmlformats.org/drawingml/2006/main">
            <a: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Erros claros para intervalo inválido</a:t>
            </a:r>
          </a:p>
        </p:txBody>
      </p:sp>
      <p:sp>
        <p:nvSpPr>
          <p:cNvPr id="5" name="Aceite: testes com PostgreSQL real, build Doc">
            <a:extLst xmlns:a="http://schemas.openxmlformats.org/drawingml/2006/main">
              <a:ext uri="{FF2B5EF4-FFF2-40B4-BE49-F238E27FC236}">
                <a16:creationId xmlns:a16="http://schemas.microsoft.com/office/drawing/2014/main" id="{50536199-DC17-4B20-A028-C5B84E98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Aceite: testes com PostgreSQL real, build Docker e chamadas HTTP independentes.</a:t>
            </a:r>
          </a:p>
        </p:txBody>
      </p:sp>
    </p:spTree>
    <p:extLst>
      <p:ext uri="{BB962C8B-B14F-4D97-AF65-F5344CB8AC3E}">
        <p14:creationId xmlns:p14="http://schemas.microsoft.com/office/powerpoint/2010/main" val="1846935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erramenta e modelo são escolhas distintas">
            <a:extLst xmlns:a="http://schemas.openxmlformats.org/drawingml/2006/main">
              <a:ext uri="{FF2B5EF4-FFF2-40B4-BE49-F238E27FC236}">
                <a16:creationId xmlns:a16="http://schemas.microsoft.com/office/drawing/2014/main" id="{38193150-7D07-464D-8212-B9E5A5E9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Ferramenta e modelo são escolhas distintas</a:t>
            </a:r>
          </a:p>
        </p:txBody>
      </p:sp>
      <p:sp>
        <p:nvSpPr>
          <p:cNvPr id="2" name="08 / 12">
            <a:extLst xmlns:a="http://schemas.openxmlformats.org/drawingml/2006/main">
              <a:ext uri="{FF2B5EF4-FFF2-40B4-BE49-F238E27FC236}">
                <a16:creationId xmlns:a16="http://schemas.microsoft.com/office/drawing/2014/main" id="{FBBA08EE-9061-4728-B3D1-AAE831E6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DF6EA-71CF-4048-8A21-342D12EF2986}"/>
              </a:ext>
            </a:extLst>
          </p:cNvPr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000500"/>
                <a:gridCol w="4343400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Ferramenta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Papel no fluxo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de inferência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OpenCode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CLI em workflow controlado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Provedores configurados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Claude Code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CLI em workflow controlado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Modelos compatíveis com a ferramenta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Cursor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IDE, CLI ou Cloud Agent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Modelos disponíveis no produto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4" name="Os critérios de aceite e a CI continuam sob c">
            <a:extLst xmlns:a="http://schemas.openxmlformats.org/drawingml/2006/main">
              <a:ext uri="{FF2B5EF4-FFF2-40B4-BE49-F238E27FC236}">
                <a16:creationId xmlns:a16="http://schemas.microsoft.com/office/drawing/2014/main" id="{B8AEB2A2-2554-4081-989E-902926F9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Os critérios de aceite e a CI continuam sob controle do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7110977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ursor no mesmo processo de entrega">
            <a:extLst xmlns:a="http://schemas.openxmlformats.org/drawingml/2006/main">
              <a:ext uri="{FF2B5EF4-FFF2-40B4-BE49-F238E27FC236}">
                <a16:creationId xmlns:a16="http://schemas.microsoft.com/office/drawing/2014/main" id="{E9C7EE60-1EA8-4D73-ACD4-08E8F747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Cursor no mesmo processo de entrega</a:t>
            </a:r>
          </a:p>
        </p:txBody>
      </p:sp>
      <p:sp>
        <p:nvSpPr>
          <p:cNvPr id="2" name="CLI preserva a separação entre geração, teste">
            <a:extLst xmlns:a="http://schemas.openxmlformats.org/drawingml/2006/main">
              <a:ext uri="{FF2B5EF4-FFF2-40B4-BE49-F238E27FC236}">
                <a16:creationId xmlns:a16="http://schemas.microsoft.com/office/drawing/2014/main" id="{12618CFD-9684-483A-81A5-321A64D7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CLI preserva a separação entre geração, testes e publicação</a:t>
            </a:r>
          </a:p>
        </p:txBody>
      </p:sp>
      <p:sp>
        <p:nvSpPr>
          <p:cNvPr id="3" name="09 / 12">
            <a:extLst xmlns:a="http://schemas.openxmlformats.org/drawingml/2006/main">
              <a:ext uri="{FF2B5EF4-FFF2-40B4-BE49-F238E27FC236}">
                <a16:creationId xmlns:a16="http://schemas.microsoft.com/office/drawing/2014/main" id="{E2C9069D-2E87-4249-BB24-613FC189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E978C-3C43-4781-856E-7E448FC55756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190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476750"/>
                <a:gridCol w="38671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Opção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Como entra no fluxo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avaliar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IDE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Pessoa conduz a implementação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Diff, contexto e CI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CLI no runner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agent -p com escrita autorizada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Permissões e secret Cursor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Cloud Agent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Comentário @cursor ou API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Ambiente, rede e política de dados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5" name="Alternativa documentada. Teste autenticado ao">
            <a:extLst xmlns:a="http://schemas.openxmlformats.org/drawingml/2006/main">
              <a:ext uri="{FF2B5EF4-FFF2-40B4-BE49-F238E27FC236}">
                <a16:creationId xmlns:a16="http://schemas.microsoft.com/office/drawing/2014/main" id="{A79EE7A9-D868-4F7C-889E-D82A60D2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Alternativa documentada. Teste autenticado ao Cursor depende de credencial própria.</a:t>
            </a:r>
          </a:p>
        </p:txBody>
      </p:sp>
    </p:spTree>
    <p:extLst>
      <p:ext uri="{BB962C8B-B14F-4D97-AF65-F5344CB8AC3E}">
        <p14:creationId xmlns:p14="http://schemas.microsoft.com/office/powerpoint/2010/main" val="548952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roles para um piloto corporativo">
            <a:extLst xmlns:a="http://schemas.openxmlformats.org/drawingml/2006/main">
              <a:ext uri="{FF2B5EF4-FFF2-40B4-BE49-F238E27FC236}">
                <a16:creationId xmlns:a16="http://schemas.microsoft.com/office/drawing/2014/main" id="{8F7522D3-3365-4A3A-A3FB-5537EF31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Controles para um piloto corporativo</a:t>
            </a:r>
          </a:p>
        </p:txBody>
      </p:sp>
      <p:sp>
        <p:nvSpPr>
          <p:cNvPr id="2" name="10 / 12">
            <a:extLst xmlns:a="http://schemas.openxmlformats.org/drawingml/2006/main">
              <a:ext uri="{FF2B5EF4-FFF2-40B4-BE49-F238E27FC236}">
                <a16:creationId xmlns:a16="http://schemas.microsoft.com/office/drawing/2014/main" id="{BECE25C4-DAAE-4D2D-B49D-8A378272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3" name="Acesso e dados">
            <a:extLst xmlns:a="http://schemas.openxmlformats.org/drawingml/2006/main">
              <a:ext uri="{FF2B5EF4-FFF2-40B4-BE49-F238E27FC236}">
                <a16:creationId xmlns:a16="http://schemas.microsoft.com/office/drawing/2014/main" id="{CF22F597-14CD-459E-8B2A-F437C62C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Acesso e dados</a:t>
            </a:r>
          </a:p>
        </p:txBody>
      </p:sp>
      <p:sp>
        <p:nvSpPr>
          <p:cNvPr id="4" name="Repositório autorizado, dados sintéticos e cr">
            <a:extLst xmlns:a="http://schemas.openxmlformats.org/drawingml/2006/main">
              <a:ext uri="{FF2B5EF4-FFF2-40B4-BE49-F238E27FC236}">
                <a16:creationId xmlns:a16="http://schemas.microsoft.com/office/drawing/2014/main" id="{822910DE-1ADA-4D1B-BA51-1E3C3B7E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Repositório autorizado, dados sintéticos e credenciais com escopo mínimo</a:t>
            </a:r>
          </a:p>
        </p:txBody>
      </p:sp>
      <p:sp>
        <p:nvSpPr>
          <p:cNvPr id="5" name="Entrega e rastreabilidade">
            <a:extLst xmlns:a="http://schemas.openxmlformats.org/drawingml/2006/main">
              <a:ext uri="{FF2B5EF4-FFF2-40B4-BE49-F238E27FC236}">
                <a16:creationId xmlns:a16="http://schemas.microsoft.com/office/drawing/2014/main" id="{027C5B20-C55B-490F-A9FD-A378F5A8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Entrega e rastreabilidade</a:t>
            </a:r>
          </a:p>
        </p:txBody>
      </p:sp>
      <p:sp>
        <p:nvSpPr>
          <p:cNvPr id="6" name="PR e checks obrigatórios&#10;Aprovação independen">
            <a:extLst xmlns:a="http://schemas.openxmlformats.org/drawingml/2006/main">
              <a:ext uri="{FF2B5EF4-FFF2-40B4-BE49-F238E27FC236}">
                <a16:creationId xmlns:a16="http://schemas.microsoft.com/office/drawing/2014/main" id="{C0DEB69E-49CE-4BED-B3D4-3BF337D4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PR e checks obrigatórios</a:t>
            </a:r>
          </a:p>
          <a:p xmlns:a="http://schemas.openxmlformats.org/drawingml/2006/main">
            <a: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Aprovação independente prevista no piloto corporativo</a:t>
            </a:r>
          </a:p>
        </p:txBody>
      </p:sp>
      <p:sp>
        <p:nvSpPr>
          <p:cNvPr id="7" name="Consumo e operação">
            <a:extLst xmlns:a="http://schemas.openxmlformats.org/drawingml/2006/main">
              <a:ext uri="{FF2B5EF4-FFF2-40B4-BE49-F238E27FC236}">
                <a16:creationId xmlns:a16="http://schemas.microsoft.com/office/drawing/2014/main" id="{D50C7C94-AF45-40BB-BF4E-5F42341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Consumo e operação</a:t>
            </a:r>
          </a:p>
        </p:txBody>
      </p:sp>
      <p:sp>
        <p:nvSpPr>
          <p:cNvPr id="8" name="Timeout, tokens reportados e custo estimado">
            <a:extLst xmlns:a="http://schemas.openxmlformats.org/drawingml/2006/main">
              <a:ext uri="{FF2B5EF4-FFF2-40B4-BE49-F238E27FC236}">
                <a16:creationId xmlns:a16="http://schemas.microsoft.com/office/drawing/2014/main" id="{69F2144F-E284-4420-BCFB-5874F6E2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Timeout, tokens reportados e custo estimado</a:t>
            </a:r>
          </a:p>
        </p:txBody>
      </p:sp>
    </p:spTree>
    <p:extLst>
      <p:ext uri="{BB962C8B-B14F-4D97-AF65-F5344CB8AC3E}">
        <p14:creationId xmlns:p14="http://schemas.microsoft.com/office/powerpoint/2010/main" val="9015663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vidências da evolução atual">
            <a:extLst xmlns:a="http://schemas.openxmlformats.org/drawingml/2006/main">
              <a:ext uri="{FF2B5EF4-FFF2-40B4-BE49-F238E27FC236}">
                <a16:creationId xmlns:a16="http://schemas.microsoft.com/office/drawing/2014/main" id="{682A0A73-71B1-442E-8BA8-4B4C98F1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Evidências da evolução atual</a:t>
            </a:r>
          </a:p>
        </p:txBody>
      </p:sp>
      <p:sp>
        <p:nvSpPr>
          <p:cNvPr id="2" name="Estado registrado em 21/10/2026">
            <a:extLst xmlns:a="http://schemas.openxmlformats.org/drawingml/2006/main">
              <a:ext uri="{FF2B5EF4-FFF2-40B4-BE49-F238E27FC236}">
                <a16:creationId xmlns:a16="http://schemas.microsoft.com/office/drawing/2014/main" id="{3AF7817C-BE51-4639-B543-8029D52F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Estado registrado em 21/10/2026</a:t>
            </a:r>
          </a:p>
        </p:txBody>
      </p:sp>
      <p:sp>
        <p:nvSpPr>
          <p:cNvPr id="3" name="11 / 12">
            <a:extLst xmlns:a="http://schemas.openxmlformats.org/drawingml/2006/main">
              <a:ext uri="{FF2B5EF4-FFF2-40B4-BE49-F238E27FC236}">
                <a16:creationId xmlns:a16="http://schemas.microsoft.com/office/drawing/2014/main" id="{0FDB46C8-9A96-450B-8986-7A055A9A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9C90A-691A-4254-9188-06C32EE8C191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829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748665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Parte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 verificável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Aplicação completa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API, PostgreSQL e Docker validados por HTTP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Novo teste com PR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/oc: PR #14. @claude: PR #17, com 67 testes Java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Revisão por IA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Revisão publicada. Achados exigem verificação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Kubernetes e GPU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API e banco em kind. vLLM e ARC sem execução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Cursor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Alternativa documentada, sem teste autenticado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7154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loto com resultado mensurável">
            <a:extLst xmlns:a="http://schemas.openxmlformats.org/drawingml/2006/main">
              <a:ext uri="{FF2B5EF4-FFF2-40B4-BE49-F238E27FC236}">
                <a16:creationId xmlns:a16="http://schemas.microsoft.com/office/drawing/2014/main" id="{8F84B653-CDE3-42A1-944C-D378B953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Piloto com resultado mensurável</a:t>
            </a:r>
          </a:p>
        </p:txBody>
      </p:sp>
      <p:sp>
        <p:nvSpPr>
          <p:cNvPr id="2" name="12 / 12">
            <a:extLst xmlns:a="http://schemas.openxmlformats.org/drawingml/2006/main">
              <a:ext uri="{FF2B5EF4-FFF2-40B4-BE49-F238E27FC236}">
                <a16:creationId xmlns:a16="http://schemas.microsoft.com/office/drawing/2014/main" id="{8AC4D284-789A-4109-98C3-011C588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3" name="Uma equipe. Um repositório de laboratório.">
            <a:extLst xmlns:a="http://schemas.openxmlformats.org/drawingml/2006/main">
              <a:ext uri="{FF2B5EF4-FFF2-40B4-BE49-F238E27FC236}">
                <a16:creationId xmlns:a16="http://schemas.microsoft.com/office/drawing/2014/main" id="{8D9F8715-9F1D-4FD0-A283-CCFBD390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equipe. Um repositório de laboratório.</a:t>
            </a:r>
          </a:p>
        </p:txBody>
      </p:sp>
      <p:sp>
        <p:nvSpPr>
          <p:cNvPr id="4" name="Proposta: duas semanas e cerca de dez issues ">
            <a:extLst xmlns:a="http://schemas.openxmlformats.org/drawingml/2006/main">
              <a:ext uri="{FF2B5EF4-FFF2-40B4-BE49-F238E27FC236}">
                <a16:creationId xmlns:a16="http://schemas.microsoft.com/office/drawing/2014/main" id="{451F91A9-B914-4EAC-9E7D-801F604E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Proposta: duas semanas e cerca de dez issues pequenas</a:t>
            </a:r>
          </a:p>
        </p:txBody>
      </p:sp>
      <p:sp>
        <p:nvSpPr>
          <p:cNvPr id="5" name="Tempo de revisão e intervenções&#10;Falhas e retr">
            <a:extLst xmlns:a="http://schemas.openxmlformats.org/drawingml/2006/main">
              <a:ext uri="{FF2B5EF4-FFF2-40B4-BE49-F238E27FC236}">
                <a16:creationId xmlns:a16="http://schemas.microsoft.com/office/drawing/2014/main" id="{252714B5-9157-4A03-A952-3B5373B3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 de revisão e intervenções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Falhas e retrabalho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Falsos positivos nos comentários da IA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 estimado por tarefa concluída</a:t>
            </a:r>
          </a:p>
        </p:txBody>
      </p:sp>
      <p:sp>
        <p:nvSpPr>
          <p:cNvPr id="6" name="Escala condicionada às evidências e à avaliaç">
            <a:extLst xmlns:a="http://schemas.openxmlformats.org/drawingml/2006/main">
              <a:ext uri="{FF2B5EF4-FFF2-40B4-BE49-F238E27FC236}">
                <a16:creationId xmlns:a16="http://schemas.microsoft.com/office/drawing/2014/main" id="{FBBFB11F-B3B0-4EBC-8E28-FDBE4502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Escala condicionada às evidências e à avaliação interna</a:t>
            </a:r>
          </a:p>
        </p:txBody>
      </p:sp>
    </p:spTree>
    <p:extLst>
      <p:ext uri="{BB962C8B-B14F-4D97-AF65-F5344CB8AC3E}">
        <p14:creationId xmlns:p14="http://schemas.microsoft.com/office/powerpoint/2010/main" val="1558723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2026-10-21T04:43:20.7310000Z</dcterms:created>
  <dcterms:modified xsi:type="dcterms:W3CDTF">2026-10-21T04:43:20.7310000Z</dcterms:modified>
</coreProperties>
</file>