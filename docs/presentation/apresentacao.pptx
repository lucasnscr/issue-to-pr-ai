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17ca82528a4640" /><Relationship Type="http://schemas.openxmlformats.org/officeDocument/2006/relationships/extended-properties" Target="/docProps/app.xml" Id="R38f027dca42d4f5e" /><Relationship Type="http://schemas.openxmlformats.org/officeDocument/2006/relationships/officeDocument" Target="/ppt/presentation.xml" Id="R61f6aa736fc647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cf1f99851840fb"/>
  </p:sldMasterIdLst>
  <p:notesMasterIdLst>
    <p:notesMasterId xmlns:r="http://schemas.openxmlformats.org/officeDocument/2006/relationships" r:id="R979b4e79494c4a20"/>
  </p:notesMasterIdLst>
  <p:sldIdLst>
    <p:sldId xmlns:r="http://schemas.openxmlformats.org/officeDocument/2006/relationships" id="256" r:id="R2d88b1b5c3324c64"/>
    <p:sldId xmlns:r="http://schemas.openxmlformats.org/officeDocument/2006/relationships" id="257" r:id="R7d703e81c6bf44ae"/>
    <p:sldId xmlns:r="http://schemas.openxmlformats.org/officeDocument/2006/relationships" id="258" r:id="Ra61226ab48d644b4"/>
    <p:sldId xmlns:r="http://schemas.openxmlformats.org/officeDocument/2006/relationships" id="259" r:id="R43bc1b93a4b6414d"/>
    <p:sldId xmlns:r="http://schemas.openxmlformats.org/officeDocument/2006/relationships" id="260" r:id="R9c49244a0f924021"/>
    <p:sldId xmlns:r="http://schemas.openxmlformats.org/officeDocument/2006/relationships" id="261" r:id="R38952f8a2bc04345"/>
    <p:sldId xmlns:r="http://schemas.openxmlformats.org/officeDocument/2006/relationships" id="262" r:id="R7117b8a726014837"/>
    <p:sldId xmlns:r="http://schemas.openxmlformats.org/officeDocument/2006/relationships" id="263" r:id="R6563da80d0114a39"/>
    <p:sldId xmlns:r="http://schemas.openxmlformats.org/officeDocument/2006/relationships" id="264" r:id="R1f01e67928fe4f1c"/>
    <p:sldId xmlns:r="http://schemas.openxmlformats.org/officeDocument/2006/relationships" id="265" r:id="R2fee7d2cab6744a0"/>
    <p:sldId xmlns:r="http://schemas.openxmlformats.org/officeDocument/2006/relationships" id="266" r:id="Rf25c2db363bc418f"/>
    <p:sldId xmlns:r="http://schemas.openxmlformats.org/officeDocument/2006/relationships" id="267" r:id="R8b9dee0aacb444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2d440deccb4190" /><Relationship Type="http://schemas.openxmlformats.org/officeDocument/2006/relationships/slideMaster" Target="/ppt/slideMasters/slideMaster1.xml" Id="R9ccf1f99851840fb" /><Relationship Type="http://schemas.openxmlformats.org/officeDocument/2006/relationships/notesMaster" Target="/ppt/notesMasters/notesMaster1.xml" Id="R979b4e79494c4a20" /><Relationship Type="http://schemas.openxmlformats.org/officeDocument/2006/relationships/presProps" Target="/ppt/presProps.xml" Id="R080861b0c9934072" /><Relationship Type="http://schemas.openxmlformats.org/officeDocument/2006/relationships/tableStyles" Target="/ppt/tableStyles.xml" Id="R0d449002ebef4b54" /><Relationship Type="http://schemas.openxmlformats.org/officeDocument/2006/relationships/slide" Target="/ppt/slides/slide1.xml" Id="R2d88b1b5c3324c64" /><Relationship Type="http://schemas.openxmlformats.org/officeDocument/2006/relationships/slide" Target="/ppt/slides/slide2.xml" Id="R7d703e81c6bf44ae" /><Relationship Type="http://schemas.openxmlformats.org/officeDocument/2006/relationships/slide" Target="/ppt/slides/slide3.xml" Id="Ra61226ab48d644b4" /><Relationship Type="http://schemas.openxmlformats.org/officeDocument/2006/relationships/slide" Target="/ppt/slides/slide4.xml" Id="R43bc1b93a4b6414d" /><Relationship Type="http://schemas.openxmlformats.org/officeDocument/2006/relationships/slide" Target="/ppt/slides/slide5.xml" Id="R9c49244a0f924021" /><Relationship Type="http://schemas.openxmlformats.org/officeDocument/2006/relationships/slide" Target="/ppt/slides/slide6.xml" Id="R38952f8a2bc04345" /><Relationship Type="http://schemas.openxmlformats.org/officeDocument/2006/relationships/slide" Target="/ppt/slides/slide7.xml" Id="R7117b8a726014837" /><Relationship Type="http://schemas.openxmlformats.org/officeDocument/2006/relationships/slide" Target="/ppt/slides/slide8.xml" Id="R6563da80d0114a39" /><Relationship Type="http://schemas.openxmlformats.org/officeDocument/2006/relationships/slide" Target="/ppt/slides/slide9.xml" Id="R1f01e67928fe4f1c" /><Relationship Type="http://schemas.openxmlformats.org/officeDocument/2006/relationships/slide" Target="/ppt/slides/slide10.xml" Id="R2fee7d2cab6744a0" /><Relationship Type="http://schemas.openxmlformats.org/officeDocument/2006/relationships/slide" Target="/ppt/slides/slide11.xml" Id="Rf25c2db363bc418f" /><Relationship Type="http://schemas.openxmlformats.org/officeDocument/2006/relationships/slide" Target="/ppt/slides/slide12.xml" Id="R8b9dee0aacb444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5bf285792647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1cfce10874e88" /><Relationship Type="http://schemas.openxmlformats.org/officeDocument/2006/relationships/notesMaster" Target="/ppt/notesMasters/notesMaster1.xml" Id="R7b91cf4e4dac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585b1b3dd14610" /><Relationship Type="http://schemas.openxmlformats.org/officeDocument/2006/relationships/notesMaster" Target="/ppt/notesMasters/notesMaster1.xml" Id="Rc70ddc34542c44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a84c663b0f464f" /><Relationship Type="http://schemas.openxmlformats.org/officeDocument/2006/relationships/notesMaster" Target="/ppt/notesMasters/notesMaster1.xml" Id="R90158a14a8e84d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63a1f0e24d41d7" /><Relationship Type="http://schemas.openxmlformats.org/officeDocument/2006/relationships/notesMaster" Target="/ppt/notesMasters/notesMaster1.xml" Id="R13eaf7791a6149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a2f334c9814dfb" /><Relationship Type="http://schemas.openxmlformats.org/officeDocument/2006/relationships/notesMaster" Target="/ppt/notesMasters/notesMaster1.xml" Id="R67149b89993141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a37d02493543de" /><Relationship Type="http://schemas.openxmlformats.org/officeDocument/2006/relationships/notesMaster" Target="/ppt/notesMasters/notesMaster1.xml" Id="R95e280f1bd0041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2fd5b499494e59" /><Relationship Type="http://schemas.openxmlformats.org/officeDocument/2006/relationships/notesMaster" Target="/ppt/notesMasters/notesMaster1.xml" Id="R392a35961b3443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5e86c40d6044b2" /><Relationship Type="http://schemas.openxmlformats.org/officeDocument/2006/relationships/notesMaster" Target="/ppt/notesMasters/notesMaster1.xml" Id="R92e15a11bf8e4a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fc821c4bcb4348" /><Relationship Type="http://schemas.openxmlformats.org/officeDocument/2006/relationships/notesMaster" Target="/ppt/notesMasters/notesMaster1.xml" Id="R10fe1658672e40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035e5e79064eb7" /><Relationship Type="http://schemas.openxmlformats.org/officeDocument/2006/relationships/notesMaster" Target="/ppt/notesMasters/notesMaster1.xml" Id="R68ab8c1cd63c48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9174c5c1ec43a6" /><Relationship Type="http://schemas.openxmlformats.org/officeDocument/2006/relationships/notesMaster" Target="/ppt/notesMasters/notesMaster1.xml" Id="R9c5291ca71da41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80181d75c849ee" /><Relationship Type="http://schemas.openxmlformats.org/officeDocument/2006/relationships/notesMaster" Target="/ppt/notesMasters/notesMaster1.xml" Id="R391b771694e6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é uma prova de conceito pessoal, com código público e dados fictícios. A proposta é discutir como agentes de código entram em um processo de engenharia com critérios verificáveis. Os casos de uso são sugestões de piloto para avaliação das equipes.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ganho de produtividade ainda é uma hipótese. Começamos com uma mudança que alguém consegue revisar e com critérios que a automação consegue verificar. Uma tarefa extensa, com regra ambígua ou sem ambiente executável, dificulta atribuir sucesso e custo ao agente. O catálogo serve como laboratório para esse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fluxo controlado, a geração não recebe o token de escrita que publica a PR. O modelo prepara os arquivos. O workflow avalia o escopo e executa testes antes de um job separado publicar o patch. Os comandos /oc e @claude usam CLIs não interativas e o mesmo publisher isolado. Essa garantia depende dos controles do workflow, não somente do prompt. O merge continua uma decisão humana, salvo uma autorização explícita para esta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https://github.com/lucasnscr/issue-to-pr-ai/actions/runs/39537190954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primeiro o comportamento observável da aplicação pelo Swagger ou por chamadas HTTP. Esta apresentação enfatiza a API, PostgreSQL e infraestrutura. O diagnóstico histórico validou a API e o banco reais. A demonstração não usa conexões com dados ou sistemas corporativos.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https://github.com/lucasnscr/issue-to-pr-ai/actions/runs/39540969370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3:30–4:50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primeira chamada autenticada ao modelo gerou uma implementação, mas seis testes de integração falharam. A pipeline bloqueou a publicação. A análise das falhas gerou instruções corrigidas para a segunda tentativa. A execução seguinte passou e originou a PR #3. Os 60 testes pertencem à CI dessa PR: 28 Java e 32 Node. Isso não mede qualidade universal e não demonstra correção autônoma. O registro histórico levou cerca de seis minutos para geração e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https://github.com/lucasnscr/issue-to-pr-ai/actions/runs/39536145613</a:t>
            </a:r>
          </a:p>
          <a:p xmlns:a="http://schemas.openxmlformats.org/drawingml/2006/main">
            <a:r>
              <a:t>https://github.com/lucasnscr/issue-to-pr-ai/actions/runs/39537190954</a:t>
            </a:r>
          </a:p>
          <a:p xmlns:a="http://schemas.openxmlformats.org/drawingml/2006/main">
            <a:r>
              <a:t>https://github.com/lucasnscr/issue-to-pr-ai/pull/3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4:50–6:10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Equipes que mantêm APIs e integrações podem avaliar tarefas de engenharia com escopo e aceite claros. A tabela contém hipóteses de piloto, sem descrever projetos internos. Para um primeiro piloto, usar repositório de laboratório e dados sintéticos. Precisão de domínio e decisão de entrega continuam com as pessoas responsáveis.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6:10–7:20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faixa de preço é um exemplo da evolução atual. Mostrar a issue e seus critérios antes de mostrar o código. A comparação usa BigDecimal, os filtros precisam preservar o total e o contrato OpenAPI precisa documentar o comportamento. As regras são do catálogo de laboratório. O resultado da execução aparece no slide de evidências e só deve ser anunciado como concluído quando os links comprovarem o aceite.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https://github.com/lucasnscr/issue-to-pr-ai/pull/17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7:20–8:30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projeto não exige que a ferramenta seja Claude Code. OpenCode foi a ferramenta do teste histórico, usando um modelo Anthropic. Cursor é outra ferramenta possível. A escolha depende de integração, acesso, operação e termos do provedor. Rodar uma CLI localmente ou em runner próprio não prova que a inferência acontece dentro da organização. O mesmo modelo pode não estar disponível em todos os produtos.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https://cursor.com/docs/cli/headless</a:t>
            </a:r>
          </a:p>
          <a:p xmlns:a="http://schemas.openxmlformats.org/drawingml/2006/main">
            <a:r>
              <a:t>https://cursor.com/docs/cloud-agent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8:30–9:50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documentação atual do Cursor oferece modo headless e integração com GitHub Actions. O comando é agent, com -p para execução não interativa, e --force permite modificar arquivos. A adaptação proposta manteria a publicação fora do agente. Cloud Agents oferecem outro caminho, com ambientes próprios e integração GitHub/API. Neste repositório, não declaramos um teste autenticado do Cursor sem credencial e execução. Privacy Mode e controles do produto precisam de avaliação interna conforme o contrato e a configuração escolhidos.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https://cursor.com/docs/cli/headless</a:t>
            </a:r>
          </a:p>
          <a:p xmlns:a="http://schemas.openxmlformats.org/drawingml/2006/main">
            <a:r>
              <a:t>https://cursor.com/docs/cli/github-actions</a:t>
            </a:r>
          </a:p>
          <a:p xmlns:a="http://schemas.openxmlformats.org/drawingml/2006/main">
            <a:r>
              <a:t>https://cursor.com/docs/cloud-agent</a:t>
            </a:r>
          </a:p>
          <a:p xmlns:a="http://schemas.openxmlformats.org/drawingml/2006/main">
            <a:r>
              <a:t>https://cursor.com/docs/cloud-agent/api/endpoints</a:t>
            </a:r>
          </a:p>
          <a:p xmlns:a="http://schemas.openxmlformats.org/drawingml/2006/main">
            <a:r>
              <a:t>https://cursor.com/data-use</a:t>
            </a:r>
          </a:p>
          <a:p xmlns:a="http://schemas.openxmlformats.org/drawingml/2006/main">
            <a:r>
              <a:t>https://cursor.com/security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9:50–11:00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slide descreve o desenho de um piloto. A main exige PR e checks, inclusive para o administrador. O laboratório tem um mantenedor e zero aprovações adicionais. O usuário autorizou explicitamente estes merges, executados pelo Codex. Isso não representa revisão técnica humana independente. O piloto corporativo precisa configurar responsáveis e aprovação independente. Timeout e número de etapas reduzem execução ilimitada, mas não equivalem a um teto monetário garantido por todos os provedores. Telemetria deve distinguir consumo informado, estimado e indisponível. Ferramentas e políticas de dados precisam de avaliação da organização antes de usar código interno.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https://cursor.com/security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11:00–13:20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a nova issue, a execução e a PR pelos links do arquivo evidence.json. Mostrar o Swagger e o teste HTTP correspondente. Se algum item continuar pendente, tratar como próximo passo e usar a execução histórica como demonstração de reserva. A API e o PostgreSQL passaram por implantação real em kind. vLLM e ARC permanecem sem execução real, pois o escopo deste laboratório não inclui GPU nem credenciais de GitHub App. O resultado do comando /oc no fluxo controlado é: /oc validado por comentário com publicação isolada. Claude Code: @claude validado por comentário, com 67 testes Java. Main: Código, fluxos e PRs #14 e #17 integrados à main. Governança: Política aplicada, tokens e custo estimado coletados.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  <a:p xmlns:a="http://schemas.openxmlformats.org/drawingml/2006/main">
            <a:r>
              <a:t>https://github.com/lucasnscr/issue-to-pr-ai/pull/17</a:t>
            </a:r>
          </a:p>
          <a:p xmlns:a="http://schemas.openxmlformats.org/drawingml/2006/main">
            <a:r>
              <a:t>https://github.com/lucasnscr/issue-to-pr-ai/actions/runs/39540969370</a:t>
            </a:r>
          </a:p>
          <a:p xmlns:a="http://schemas.openxmlformats.org/drawingml/2006/main">
            <a:r>
              <a:t>https://github.com/lucasnscr/issue-to-pr-ai/actions/runs/39540969370</a:t>
            </a:r>
          </a:p>
          <a:p xmlns:a="http://schemas.openxmlformats.org/drawingml/2006/main">
            <a:r>
              <a:t>https://github.com/lucasnscr/issue-to-pr-ai/actions/runs/39542150017</a:t>
            </a:r>
          </a:p>
          <a:p xmlns:a="http://schemas.openxmlformats.org/drawingml/2006/main">
            <a:r>
              <a:t>https://github.com/lucasnscr/issue-to-pr-ai/pull/17</a:t>
            </a:r>
          </a:p>
          <a:p xmlns:a="http://schemas.openxmlformats.org/drawingml/2006/main">
            <a:r>
              <a:t>https://github.com/lucasnscr/issue-to-pr-ai/pull/17</a:t>
            </a:r>
          </a:p>
          <a:p xmlns:a="http://schemas.openxmlformats.org/drawingml/2006/main">
            <a:r>
              <a:t>https://github.com/lucasnscr/issue-to-pr-ai/actions/runs/39540969370</a:t>
            </a:r>
          </a:p>
          <a:p xmlns:a="http://schemas.openxmlformats.org/drawingml/2006/main">
            <a:r>
              <a:t>https://github.com/lucasnscr/issue-to-pr-ai/actions/runs/39544001615</a:t>
            </a:r>
          </a:p>
          <a:p xmlns:a="http://schemas.openxmlformats.org/drawingml/2006/main">
            <a:r>
              <a:t>https://cursor.com/docs/cli/github-actions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13:20–15:00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proposta de uma equipe, duas semanas e dez issues é um desenho de piloto, não um resultado. Comparar tarefas equivalentes com e sem agente e registrar falhas, retrabalho, custo e esforço de revisão humana. O objetivo da conversa é escolher um caso pequeno e um responsável pelo piloto. O projeto ainda não fornece evidência para prometer uma porcentagem de ganho de produtividade. Reservar o último minuto para discussão.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https://github.com/lucasnscr/issue-to-pr-ai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0162e44004f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b8af2e7e441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e1a8f87aa4a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e1957e4884d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f06afa23542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3df3dce9b48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6249E2-57E6-49B0-8363-D5645E85A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8C239F-CA05-46D4-AC07-FDB8E796D4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BDC480-C740-445A-B2BA-83C166700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118835-EFE0-4CEC-9CDF-E642BD55D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A69526-F089-4A35-B0FF-14432880CE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7B760F-6459-4760-9FF4-6D6A44CD0A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F34576-FDF2-4FBD-8A7B-9E514FBA84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AC5DFE-E903-4071-83C4-25243AEB90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D9568E-A1ED-4EB5-A8C3-2C5587BB9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03EFB3-4F7E-4BE4-BB1B-04B9F5318B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1bd4d029f84625" /><Relationship Type="http://schemas.openxmlformats.org/officeDocument/2006/relationships/slideLayout" Target="/ppt/slideLayouts/slideLayout1.xml" Id="R20c4d014349048d4" /><Relationship Type="http://schemas.openxmlformats.org/officeDocument/2006/relationships/slideLayout" Target="/ppt/slideLayouts/slideLayout2.xml" Id="R87fc0e8aadbb454e" /><Relationship Type="http://schemas.openxmlformats.org/officeDocument/2006/relationships/slideLayout" Target="/ppt/slideLayouts/slideLayout3.xml" Id="R9c3cd4b2e1054dce" /><Relationship Type="http://schemas.openxmlformats.org/officeDocument/2006/relationships/slideLayout" Target="/ppt/slideLayouts/slideLayout4.xml" Id="R7778e28eb9e64778" /><Relationship Type="http://schemas.openxmlformats.org/officeDocument/2006/relationships/slideLayout" Target="/ppt/slideLayouts/slideLayout5.xml" Id="R4073e7f1a3154bb9" /><Relationship Type="http://schemas.openxmlformats.org/officeDocument/2006/relationships/slideLayout" Target="/ppt/slideLayouts/slideLayout6.xml" Id="Refb4d8b9ea094c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4d014349048d4"/>
    <p:sldLayoutId xmlns:r="http://schemas.openxmlformats.org/officeDocument/2006/relationships" id="2147483650" r:id="R87fc0e8aadbb454e"/>
    <p:sldLayoutId xmlns:r="http://schemas.openxmlformats.org/officeDocument/2006/relationships" id="2147483651" r:id="R9c3cd4b2e1054dce"/>
    <p:sldLayoutId xmlns:r="http://schemas.openxmlformats.org/officeDocument/2006/relationships" id="2147483652" r:id="R7778e28eb9e64778"/>
    <p:sldLayoutId xmlns:r="http://schemas.openxmlformats.org/officeDocument/2006/relationships" id="2147483653" r:id="R4073e7f1a3154bb9"/>
    <p:sldLayoutId xmlns:r="http://schemas.openxmlformats.org/officeDocument/2006/relationships" id="2147483654" r:id="Refb4d8b9ea094c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a7d9f9b054977" /><Relationship Type="http://schemas.openxmlformats.org/officeDocument/2006/relationships/notesSlide" Target="/ppt/notesSlides/notesSlide1.xml" Id="Ra0a7ea8ce2fd41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16eb79790466d" /><Relationship Type="http://schemas.openxmlformats.org/officeDocument/2006/relationships/notesSlide" Target="/ppt/notesSlides/notesSlide2.xml" Id="R6b676e994bf34e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d1c5c608b4a6a" /><Relationship Type="http://schemas.openxmlformats.org/officeDocument/2006/relationships/notesSlide" Target="/ppt/notesSlides/notesSlide3.xml" Id="Rf1d274b2cf4a40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131ee7b484d3c" /><Relationship Type="http://schemas.openxmlformats.org/officeDocument/2006/relationships/notesSlide" Target="/ppt/notesSlides/notesSlide4.xml" Id="R23419b0bc3d14d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34c7edd224bc2" /><Relationship Type="http://schemas.openxmlformats.org/officeDocument/2006/relationships/notesSlide" Target="/ppt/notesSlides/notesSlide5.xml" Id="Rccccae1d655344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c9b32c7f74386" /><Relationship Type="http://schemas.openxmlformats.org/officeDocument/2006/relationships/notesSlide" Target="/ppt/notesSlides/notesSlide6.xml" Id="Red9f4fe9d7b64b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96ebd122e4963" /><Relationship Type="http://schemas.openxmlformats.org/officeDocument/2006/relationships/notesSlide" Target="/ppt/notesSlides/notesSlide7.xml" Id="R7954358ef91b4b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ccb876eec4947" /><Relationship Type="http://schemas.openxmlformats.org/officeDocument/2006/relationships/notesSlide" Target="/ppt/notesSlides/notesSlide8.xml" Id="Rcc5c01a081c34e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952bcb64f4a89" /><Relationship Type="http://schemas.openxmlformats.org/officeDocument/2006/relationships/notesSlide" Target="/ppt/notesSlides/notesSlide9.xml" Id="Rccbf6aec09734d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0e6ec734c49b6" /><Relationship Type="http://schemas.openxmlformats.org/officeDocument/2006/relationships/notesSlide" Target="/ppt/notesSlides/notesSlide10.xml" Id="R759921fdebde47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57ae232a7143fc" /><Relationship Type="http://schemas.openxmlformats.org/officeDocument/2006/relationships/notesSlide" Target="/ppt/notesSlides/notesSlide11.xml" Id="R41fb5914387740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6638217304650" /><Relationship Type="http://schemas.openxmlformats.org/officeDocument/2006/relationships/notesSlide" Target="/ppt/notesSlides/notesSlide12.xml" Id="R037b02739ab44f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 / 12">
            <a:extLst xmlns:a="http://schemas.openxmlformats.org/drawingml/2006/main">
              <a:ext uri="{FF2B5EF4-FFF2-40B4-BE49-F238E27FC236}">
                <a16:creationId xmlns:a16="http://schemas.microsoft.com/office/drawing/2014/main" id="{35D0B42C-5581-4875-B3E8-EE7377C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  <p:sp>
        <p:nvSpPr>
          <p:cNvPr id="2" name="issue-to-pr-ai">
            <a:extLst xmlns:a="http://schemas.openxmlformats.org/drawingml/2006/main">
              <a:ext uri="{FF2B5EF4-FFF2-40B4-BE49-F238E27FC236}">
                <a16:creationId xmlns:a16="http://schemas.microsoft.com/office/drawing/2014/main" id="{12519859-F415-47D0-84E4-76E9449C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issue-to-pr-ai</a:t>
            </a:r>
          </a:p>
        </p:txBody>
      </p:sp>
      <p:sp>
        <p:nvSpPr>
          <p:cNvPr id="3" name="Desenvolvimento com IA&#10;e validação independen">
            <a:extLst xmlns:a="http://schemas.openxmlformats.org/drawingml/2006/main">
              <a:ext uri="{FF2B5EF4-FFF2-40B4-BE49-F238E27FC236}">
                <a16:creationId xmlns:a16="http://schemas.microsoft.com/office/drawing/2014/main" id="{D23BA2D5-4C3C-4693-B3A0-FFEB83B1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Desenvolvimento com IA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validação independente</a:t>
            </a:r>
          </a:p>
        </p:txBody>
      </p:sp>
      <p:sp>
        <p:nvSpPr>
          <p:cNvPr id="4" name="Prova de conceito para equipes de engenharia">
            <a:extLst xmlns:a="http://schemas.openxmlformats.org/drawingml/2006/main">
              <a:ext uri="{FF2B5EF4-FFF2-40B4-BE49-F238E27FC236}">
                <a16:creationId xmlns:a16="http://schemas.microsoft.com/office/drawing/2014/main" id="{2FAF5726-E9CA-48DA-9DE3-8CE6D0F3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Prova de conceito para equipes de engenharia</a:t>
            </a:r>
          </a:p>
        </p:txBody>
      </p:sp>
      <p:sp>
        <p:nvSpPr>
          <p:cNvPr id="5" name="Lucas Silva&#10;22 de outubro de 2026">
            <a:extLst xmlns:a="http://schemas.openxmlformats.org/drawingml/2006/main">
              <a:ext uri="{FF2B5EF4-FFF2-40B4-BE49-F238E27FC236}">
                <a16:creationId xmlns:a16="http://schemas.microsoft.com/office/drawing/2014/main" id="{A59E339C-8E56-4E1A-A1B2-C4C48DB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Lucas Silva</a:t>
            </a:r>
          </a:p>
          <a:p xmlns:a="http://schemas.openxmlformats.org/drawingml/2006/main">
            <a:pPr>
              <a:defRPr sz="16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22 de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409935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refas pequenas e verificáveis">
            <a:extLst xmlns:a="http://schemas.openxmlformats.org/drawingml/2006/main">
              <a:ext uri="{FF2B5EF4-FFF2-40B4-BE49-F238E27FC236}">
                <a16:creationId xmlns:a16="http://schemas.microsoft.com/office/drawing/2014/main" id="{1E58AB66-BDE7-4871-A99E-9607CD1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Tarefas pequenas e verificáveis</a:t>
            </a:r>
          </a:p>
        </p:txBody>
      </p:sp>
      <p:sp>
        <p:nvSpPr>
          <p:cNvPr id="2" name="02 / 12">
            <a:extLst xmlns:a="http://schemas.openxmlformats.org/drawingml/2006/main">
              <a:ext uri="{FF2B5EF4-FFF2-40B4-BE49-F238E27FC236}">
                <a16:creationId xmlns:a16="http://schemas.microsoft.com/office/drawing/2014/main" id="{B0DF8803-3DD0-466B-9444-D62BF9CA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3" name="Uma issue define o resultado esperado">
            <a:extLst xmlns:a="http://schemas.openxmlformats.org/drawingml/2006/main">
              <a:ext uri="{FF2B5EF4-FFF2-40B4-BE49-F238E27FC236}">
                <a16:creationId xmlns:a16="http://schemas.microsoft.com/office/drawing/2014/main" id="{1FC227F3-E7B3-424F-97BC-930B0402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Uma issue define o resultado esperado</a:t>
            </a:r>
          </a:p>
        </p:txBody>
      </p:sp>
      <p:sp>
        <p:nvSpPr>
          <p:cNvPr id="4" name="Filtros de API, testes de regressão, exemplos">
            <a:extLst xmlns:a="http://schemas.openxmlformats.org/drawingml/2006/main">
              <a:ext uri="{FF2B5EF4-FFF2-40B4-BE49-F238E27FC236}">
                <a16:creationId xmlns:a16="http://schemas.microsoft.com/office/drawing/2014/main" id="{27F3F422-727F-4573-91E4-773AEDC3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Filtros de API, testes de regressão, exemplos de uso e manutenção de dependências oferecem escopos delimitados.</a:t>
            </a:r>
          </a:p>
        </p:txBody>
      </p:sp>
      <p:sp>
        <p:nvSpPr>
          <p:cNvPr id="5" name="Hipótese do piloto: reduzir esforço repetitiv">
            <a:extLst xmlns:a="http://schemas.openxmlformats.org/drawingml/2006/main">
              <a:ext uri="{FF2B5EF4-FFF2-40B4-BE49-F238E27FC236}">
                <a16:creationId xmlns:a16="http://schemas.microsoft.com/office/drawing/2014/main" id="{0BF1C28B-204C-48A1-8C85-7B49F45A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Hipótese do piloto: reduzir esforço repetitivo sem transferir a decisão de entrega ao agente.</a:t>
            </a:r>
          </a:p>
        </p:txBody>
      </p:sp>
    </p:spTree>
    <p:extLst>
      <p:ext uri="{BB962C8B-B14F-4D97-AF65-F5344CB8AC3E}">
        <p14:creationId xmlns:p14="http://schemas.microsoft.com/office/powerpoint/2010/main" val="1839177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luxo de implementação e entrega">
            <a:extLst xmlns:a="http://schemas.openxmlformats.org/drawingml/2006/main">
              <a:ext uri="{FF2B5EF4-FFF2-40B4-BE49-F238E27FC236}">
                <a16:creationId xmlns:a16="http://schemas.microsoft.com/office/drawing/2014/main" id="{240C2453-7207-4065-BB63-B1C6C304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Fluxo de implementação e entrega</a:t>
            </a:r>
          </a:p>
        </p:txBody>
      </p:sp>
      <p:sp>
        <p:nvSpPr>
          <p:cNvPr id="2" name="A publicação depende de evidências produzidas">
            <a:extLst xmlns:a="http://schemas.openxmlformats.org/drawingml/2006/main">
              <a:ext uri="{FF2B5EF4-FFF2-40B4-BE49-F238E27FC236}">
                <a16:creationId xmlns:a16="http://schemas.microsoft.com/office/drawing/2014/main" id="{B280D4CF-E19B-430B-8235-03D0531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 publicação depende de evidências produzidas fora da geração</a:t>
            </a:r>
          </a:p>
        </p:txBody>
      </p:sp>
      <p:sp>
        <p:nvSpPr>
          <p:cNvPr id="3" name="03 / 12">
            <a:extLst xmlns:a="http://schemas.openxmlformats.org/drawingml/2006/main">
              <a:ext uri="{FF2B5EF4-FFF2-40B4-BE49-F238E27FC236}">
                <a16:creationId xmlns:a16="http://schemas.microsoft.com/office/drawing/2014/main" id="{26AD5A77-9F74-4C67-B1E1-02EF523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03897-2785-4F6F-8E89-56146C6E33B4}"/>
              </a:ext>
            </a:extLst>
          </p:cNvPr>
          <p:cNvGraphicFramePr/>
          <p:nvPr/>
        </p:nvGraphicFramePr>
        <p:xfrm>
          <a:off xmlns:a="http://schemas.openxmlformats.org/drawingml/2006/main" x="685800" y="21336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90875"/>
                <a:gridCol w="3333750"/>
                <a:gridCol w="4295775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Evidência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Escopo e autorização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Pessoa + gate do workflow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Issue, critérios e permissão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Geração da mudança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Agente + modelo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Patch e registro da execução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CI independente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Testes, imagem e HTTP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Publicação e decisão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Publisher + pessoa revisora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Draft PR, diff e checks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983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licação de catálogo">
            <a:extLst xmlns:a="http://schemas.openxmlformats.org/drawingml/2006/main">
              <a:ext uri="{FF2B5EF4-FFF2-40B4-BE49-F238E27FC236}">
                <a16:creationId xmlns:a16="http://schemas.microsoft.com/office/drawing/2014/main" id="{CCF063DE-E78C-4D5A-B845-076B7506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Aplicação de catálogo</a:t>
            </a:r>
          </a:p>
        </p:txBody>
      </p:sp>
      <p:sp>
        <p:nvSpPr>
          <p:cNvPr id="2" name="Ambiente de demonstração com produtos fictíci">
            <a:extLst xmlns:a="http://schemas.openxmlformats.org/drawingml/2006/main">
              <a:ext uri="{FF2B5EF4-FFF2-40B4-BE49-F238E27FC236}">
                <a16:creationId xmlns:a16="http://schemas.microsoft.com/office/drawing/2014/main" id="{B5FCDD1D-8049-482A-BB5A-B4FE9D94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Ambiente de demonstração com produtos fictícios</a:t>
            </a:r>
          </a:p>
        </p:txBody>
      </p:sp>
      <p:sp>
        <p:nvSpPr>
          <p:cNvPr id="3" name="04 / 12">
            <a:extLst xmlns:a="http://schemas.openxmlformats.org/drawingml/2006/main">
              <a:ext uri="{FF2B5EF4-FFF2-40B4-BE49-F238E27FC236}">
                <a16:creationId xmlns:a16="http://schemas.microsoft.com/office/drawing/2014/main" id="{02DD71A5-691D-4D27-9E16-6E8006D3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4" name="Swagger e HTTP">
            <a:extLst xmlns:a="http://schemas.openxmlformats.org/drawingml/2006/main">
              <a:ext uri="{FF2B5EF4-FFF2-40B4-BE49-F238E27FC236}">
                <a16:creationId xmlns:a16="http://schemas.microsoft.com/office/drawing/2014/main" id="{3F75C280-182D-4301-923C-60EBA361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Swagger e HTTP</a:t>
            </a:r>
          </a:p>
        </p:txBody>
      </p:sp>
      <p:sp>
        <p:nvSpPr>
          <p:cNvPr id="5" name="Cadastro, consulta e filtros">
            <a:extLst xmlns:a="http://schemas.openxmlformats.org/drawingml/2006/main">
              <a:ext uri="{FF2B5EF4-FFF2-40B4-BE49-F238E27FC236}">
                <a16:creationId xmlns:a16="http://schemas.microsoft.com/office/drawing/2014/main" id="{BB48A9DE-69E3-484A-A8BB-5C3F8536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Cadastro, consulta e filtros</a:t>
            </a:r>
          </a:p>
        </p:txBody>
      </p:sp>
      <p:sp>
        <p:nvSpPr>
          <p:cNvPr id="6" name="API Java 21 + Spring Boot">
            <a:extLst xmlns:a="http://schemas.openxmlformats.org/drawingml/2006/main">
              <a:ext uri="{FF2B5EF4-FFF2-40B4-BE49-F238E27FC236}">
                <a16:creationId xmlns:a16="http://schemas.microsoft.com/office/drawing/2014/main" id="{B348F4CA-E20B-4D56-AD2D-A00CA318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API Java 21 + Spring Boot</a:t>
            </a:r>
          </a:p>
        </p:txBody>
      </p:sp>
      <p:sp>
        <p:nvSpPr>
          <p:cNvPr id="7" name="Validação e contrato OpenAPI&#10;PostgreSQL + mig">
            <a:extLst xmlns:a="http://schemas.openxmlformats.org/drawingml/2006/main">
              <a:ext uri="{FF2B5EF4-FFF2-40B4-BE49-F238E27FC236}">
                <a16:creationId xmlns:a16="http://schemas.microsoft.com/office/drawing/2014/main" id="{D9825E9E-4C9C-4101-90CB-19F95825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52750"/>
            <a:ext cx="552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Validação e contrato OpenAPI</a:t>
            </a:r>
          </a:p>
          <a:p xmlns:a="http://schemas.openxmlformats.org/drawingml/2006/main">
            <a: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PostgreSQL + migrations Flyway</a:t>
            </a:r>
          </a:p>
          <a:p xmlns:a="http://schemas.openxmlformats.org/drawingml/2006/main">
            <a:pPr>
              <a:defRPr sz="2175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Imagem e execução com Docker</a:t>
            </a:r>
          </a:p>
        </p:txBody>
      </p:sp>
      <p:sp>
        <p:nvSpPr>
          <p:cNvPr id="8" name="API, PostgreSQL e Docker validados por HTTP">
            <a:extLst xmlns:a="http://schemas.openxmlformats.org/drawingml/2006/main">
              <a:ext uri="{FF2B5EF4-FFF2-40B4-BE49-F238E27FC236}">
                <a16:creationId xmlns:a16="http://schemas.microsoft.com/office/drawing/2014/main" id="{9CC68451-BE56-47E0-9808-880C9664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API, PostgreSQL e Docker validados por HTTP</a:t>
            </a:r>
          </a:p>
        </p:txBody>
      </p:sp>
    </p:spTree>
    <p:extLst>
      <p:ext uri="{BB962C8B-B14F-4D97-AF65-F5344CB8AC3E}">
        <p14:creationId xmlns:p14="http://schemas.microsoft.com/office/powerpoint/2010/main" val="293153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s testes bloquearam a primeira tentativa">
            <a:extLst xmlns:a="http://schemas.openxmlformats.org/drawingml/2006/main">
              <a:ext uri="{FF2B5EF4-FFF2-40B4-BE49-F238E27FC236}">
                <a16:creationId xmlns:a16="http://schemas.microsoft.com/office/drawing/2014/main" id="{B70E127E-4F9E-4B8E-AED6-7E9BCEB4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Os testes bloquearam a primeira tentativa</a:t>
            </a:r>
          </a:p>
        </p:txBody>
      </p:sp>
      <p:sp>
        <p:nvSpPr>
          <p:cNvPr id="2" name="A segunda tentativa usou instruções corrigida">
            <a:extLst xmlns:a="http://schemas.openxmlformats.org/drawingml/2006/main">
              <a:ext uri="{FF2B5EF4-FFF2-40B4-BE49-F238E27FC236}">
                <a16:creationId xmlns:a16="http://schemas.microsoft.com/office/drawing/2014/main" id="{A7824586-AA0D-468D-8FD5-46066110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 segunda tentativa usou instruções corrigidas sobre as falhas</a:t>
            </a:r>
          </a:p>
        </p:txBody>
      </p:sp>
      <p:sp>
        <p:nvSpPr>
          <p:cNvPr id="3" name="05 / 12">
            <a:extLst xmlns:a="http://schemas.openxmlformats.org/drawingml/2006/main">
              <a:ext uri="{FF2B5EF4-FFF2-40B4-BE49-F238E27FC236}">
                <a16:creationId xmlns:a16="http://schemas.microsoft.com/office/drawing/2014/main" id="{03129C96-B3F3-4BEB-81A6-963B3CF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5B22C-1ADA-4253-AEC3-85711A5831F7}"/>
              </a:ext>
            </a:extLst>
          </p:cNvPr>
          <p:cNvGraphicFramePr/>
          <p:nvPr/>
        </p:nvGraphicFramePr>
        <p:xfrm>
          <a:off xmlns:a="http://schemas.openxmlformats.org/drawingml/2006/main" x="685800" y="2305050"/>
          <a:ext xmlns:a="http://schemas.openxmlformats.org/drawingml/2006/main" cx="10820400" cy="2524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5048250"/>
                <a:gridCol w="2914650"/>
              </a:tblGrid>
              <a:tr h="552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Execução real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Publicação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Primeira tentativa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6 falhas de integração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Bloqueada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Segunda tentativa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28 testes Java + 32 testes Node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Draft PR #3 criada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5" name="Docker, smoke HTTP e critérios independentes ">
            <a:extLst xmlns:a="http://schemas.openxmlformats.org/drawingml/2006/main">
              <a:ext uri="{FF2B5EF4-FFF2-40B4-BE49-F238E27FC236}">
                <a16:creationId xmlns:a16="http://schemas.microsoft.com/office/drawing/2014/main" id="{D25E517D-9631-48D1-A5B5-E615115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Docker, smoke HTTP e critérios independentes completaram a validação da segunda tentativa.</a:t>
            </a:r>
          </a:p>
        </p:txBody>
      </p:sp>
    </p:spTree>
    <p:extLst>
      <p:ext uri="{BB962C8B-B14F-4D97-AF65-F5344CB8AC3E}">
        <p14:creationId xmlns:p14="http://schemas.microsoft.com/office/powerpoint/2010/main" val="363605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sos de uso em equipes de engenharia">
            <a:extLst xmlns:a="http://schemas.openxmlformats.org/drawingml/2006/main">
              <a:ext uri="{FF2B5EF4-FFF2-40B4-BE49-F238E27FC236}">
                <a16:creationId xmlns:a16="http://schemas.microsoft.com/office/drawing/2014/main" id="{5872CD90-D8E6-444A-96DD-58FD2ECF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Casos de uso em equipes de engenharia</a:t>
            </a:r>
          </a:p>
        </p:txBody>
      </p:sp>
      <p:sp>
        <p:nvSpPr>
          <p:cNvPr id="2" name="Hipóteses de piloto em laboratório, sujeitas ">
            <a:extLst xmlns:a="http://schemas.openxmlformats.org/drawingml/2006/main">
              <a:ext uri="{FF2B5EF4-FFF2-40B4-BE49-F238E27FC236}">
                <a16:creationId xmlns:a16="http://schemas.microsoft.com/office/drawing/2014/main" id="{AE8BC1C2-439E-463B-9113-279E4E33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Hipóteses de piloto em laboratório, sujeitas à avaliação interna</a:t>
            </a:r>
          </a:p>
        </p:txBody>
      </p:sp>
      <p:sp>
        <p:nvSpPr>
          <p:cNvPr id="3" name="06 / 12">
            <a:extLst xmlns:a="http://schemas.openxmlformats.org/drawingml/2006/main">
              <a:ext uri="{FF2B5EF4-FFF2-40B4-BE49-F238E27FC236}">
                <a16:creationId xmlns:a16="http://schemas.microsoft.com/office/drawing/2014/main" id="{AF7E47CB-D7AD-4D0B-8071-87C65051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75D2-B8D4-45EF-942A-3B494E5FD279}"/>
              </a:ext>
            </a:extLst>
          </p:cNvPr>
          <p:cNvGraphicFramePr/>
          <p:nvPr/>
        </p:nvGraphicFramePr>
        <p:xfrm>
          <a:off xmlns:a="http://schemas.openxmlformats.org/drawingml/2006/main" x="685800" y="2124075"/>
          <a:ext xmlns:a="http://schemas.openxmlformats.org/drawingml/2006/main" cx="10820400" cy="3676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095750"/>
                <a:gridCol w="42481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Exemplo de issue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Aceite verificável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Contratos de APIs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Filtro opcional e validação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Compatibilidade + erros + OpenAPI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Integrações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Regressão em serialização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Fixture fictícia + teste do defeito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Dependências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Atualização de uma biblioteca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Build + testes + análise do diff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Documentação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Exemplo de SDK executável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Exemplo validado contra contrato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10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xemplo de piloto: faixa de preço">
            <a:extLst xmlns:a="http://schemas.openxmlformats.org/drawingml/2006/main">
              <a:ext uri="{FF2B5EF4-FFF2-40B4-BE49-F238E27FC236}">
                <a16:creationId xmlns:a16="http://schemas.microsoft.com/office/drawing/2014/main" id="{43429AE4-3D77-416A-8818-9B43D140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Exemplo de piloto: faixa de preço</a:t>
            </a:r>
          </a:p>
        </p:txBody>
      </p:sp>
      <p:sp>
        <p:nvSpPr>
          <p:cNvPr id="2" name="07 / 12">
            <a:extLst xmlns:a="http://schemas.openxmlformats.org/drawingml/2006/main">
              <a:ext uri="{FF2B5EF4-FFF2-40B4-BE49-F238E27FC236}">
                <a16:creationId xmlns:a16="http://schemas.microsoft.com/office/drawing/2014/main" id="{17241FC2-590D-4BE0-8D02-3702347D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3" name="Uma mudança atravessa contrato, API e banco">
            <a:extLst xmlns:a="http://schemas.openxmlformats.org/drawingml/2006/main">
              <a:ext uri="{FF2B5EF4-FFF2-40B4-BE49-F238E27FC236}">
                <a16:creationId xmlns:a16="http://schemas.microsoft.com/office/drawing/2014/main" id="{CEC7C131-D96E-4A77-B7C9-81B6D490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Uma mudança atravessa contrato, API e banco</a:t>
            </a:r>
          </a:p>
        </p:txBody>
      </p:sp>
      <p:sp>
        <p:nvSpPr>
          <p:cNvPr id="4" name="Limites inclusivos e opcionais&#10;Combinação com">
            <a:extLst xmlns:a="http://schemas.openxmlformats.org/drawingml/2006/main">
              <a:ext uri="{FF2B5EF4-FFF2-40B4-BE49-F238E27FC236}">
                <a16:creationId xmlns:a16="http://schemas.microsoft.com/office/drawing/2014/main" id="{A354A90C-B2EF-4E58-8156-B45B8D5F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Limites inclusivos e opcionais</a:t>
            </a:r>
          </a:p>
          <a:p xmlns:a="http://schemas.openxmlformats.org/drawingml/2006/main">
            <a: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Combinação com categoria e paginação</a:t>
            </a:r>
          </a:p>
          <a:p xmlns:a="http://schemas.openxmlformats.org/drawingml/2006/main">
            <a:pPr>
              <a:defRPr sz="24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Erros claros para intervalo inválido</a:t>
            </a:r>
          </a:p>
        </p:txBody>
      </p:sp>
      <p:sp>
        <p:nvSpPr>
          <p:cNvPr id="5" name="Aceite: testes com PostgreSQL real, build Doc">
            <a:extLst xmlns:a="http://schemas.openxmlformats.org/drawingml/2006/main">
              <a:ext uri="{FF2B5EF4-FFF2-40B4-BE49-F238E27FC236}">
                <a16:creationId xmlns:a16="http://schemas.microsoft.com/office/drawing/2014/main" id="{A43A4B50-7FF9-4C5A-A67C-8488578D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Aceite: testes com PostgreSQL real, build Docker e chamadas HTTP independentes.</a:t>
            </a:r>
          </a:p>
        </p:txBody>
      </p:sp>
    </p:spTree>
    <p:extLst>
      <p:ext uri="{BB962C8B-B14F-4D97-AF65-F5344CB8AC3E}">
        <p14:creationId xmlns:p14="http://schemas.microsoft.com/office/powerpoint/2010/main" val="710071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erramenta e modelo são escolhas distintas">
            <a:extLst xmlns:a="http://schemas.openxmlformats.org/drawingml/2006/main">
              <a:ext uri="{FF2B5EF4-FFF2-40B4-BE49-F238E27FC236}">
                <a16:creationId xmlns:a16="http://schemas.microsoft.com/office/drawing/2014/main" id="{5F5EFAF9-D88B-49E2-9CA5-C59A117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Ferramenta e modelo são escolhas distintas</a:t>
            </a:r>
          </a:p>
        </p:txBody>
      </p:sp>
      <p:sp>
        <p:nvSpPr>
          <p:cNvPr id="2" name="08 / 12">
            <a:extLst xmlns:a="http://schemas.openxmlformats.org/drawingml/2006/main">
              <a:ext uri="{FF2B5EF4-FFF2-40B4-BE49-F238E27FC236}">
                <a16:creationId xmlns:a16="http://schemas.microsoft.com/office/drawing/2014/main" id="{B16A2677-AD9D-47BE-BCAD-03E1FDC4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FF650-2A09-40B3-9158-10C0B1017601}"/>
              </a:ext>
            </a:extLst>
          </p:cNvPr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000500"/>
                <a:gridCol w="4343400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Ferramenta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Papel no fluxo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de inferência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OpenCode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CLI em workflow controlado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Provedores configurados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Claude Code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CLI em workflow controlado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Modelos compatíveis com a ferramenta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Cursor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IDE, CLI ou Cloud Agent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Modelos disponíveis no produto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4" name="Os critérios de aceite e a CI continuam sob c">
            <a:extLst xmlns:a="http://schemas.openxmlformats.org/drawingml/2006/main">
              <a:ext uri="{FF2B5EF4-FFF2-40B4-BE49-F238E27FC236}">
                <a16:creationId xmlns:a16="http://schemas.microsoft.com/office/drawing/2014/main" id="{75A435E1-DC46-413A-B693-99A6296D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C83"/>
                </a:solidFill>
                <a:latin typeface="Arial"/>
                <a:ea typeface="Arial"/>
                <a:cs typeface="Arial"/>
              </a:rPr>
              <a:t>Os critérios de aceite e a CI continuam sob controle do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3164542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ursor no mesmo processo de entrega">
            <a:extLst xmlns:a="http://schemas.openxmlformats.org/drawingml/2006/main">
              <a:ext uri="{FF2B5EF4-FFF2-40B4-BE49-F238E27FC236}">
                <a16:creationId xmlns:a16="http://schemas.microsoft.com/office/drawing/2014/main" id="{24ED466E-0676-4B55-A456-FECFD7D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Cursor no mesmo processo de entrega</a:t>
            </a:r>
          </a:p>
        </p:txBody>
      </p:sp>
      <p:sp>
        <p:nvSpPr>
          <p:cNvPr id="2" name="CLI preserva a separação entre geração, teste">
            <a:extLst xmlns:a="http://schemas.openxmlformats.org/drawingml/2006/main">
              <a:ext uri="{FF2B5EF4-FFF2-40B4-BE49-F238E27FC236}">
                <a16:creationId xmlns:a16="http://schemas.microsoft.com/office/drawing/2014/main" id="{8251F14E-5DC4-434E-B62F-2DA7F65C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CLI preserva a separação entre geração, testes e publicação</a:t>
            </a:r>
          </a:p>
        </p:txBody>
      </p:sp>
      <p:sp>
        <p:nvSpPr>
          <p:cNvPr id="3" name="09 / 12">
            <a:extLst xmlns:a="http://schemas.openxmlformats.org/drawingml/2006/main">
              <a:ext uri="{FF2B5EF4-FFF2-40B4-BE49-F238E27FC236}">
                <a16:creationId xmlns:a16="http://schemas.microsoft.com/office/drawing/2014/main" id="{55C15432-9853-4833-B458-229EEE04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419FA-15A8-4758-A4C0-88419A152895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190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476750"/>
                <a:gridCol w="386715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Opção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Como entra no fluxo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avaliar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IDE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Pessoa conduz a implementação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Diff, contexto e CI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CLI no runner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agent -p com escrita autorizada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Permissões e secret Cursor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Cloud Agent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Comentário @cursor ou API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Ambiente, rede e política de dados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5" name="Alternativa documentada. Teste autenticado ao">
            <a:extLst xmlns:a="http://schemas.openxmlformats.org/drawingml/2006/main">
              <a:ext uri="{FF2B5EF4-FFF2-40B4-BE49-F238E27FC236}">
                <a16:creationId xmlns:a16="http://schemas.microsoft.com/office/drawing/2014/main" id="{B2A15A21-51F4-444D-8823-B2913C73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Alternativa documentada. Teste autenticado ao Cursor depende de credencial própria.</a:t>
            </a:r>
          </a:p>
        </p:txBody>
      </p:sp>
    </p:spTree>
    <p:extLst>
      <p:ext uri="{BB962C8B-B14F-4D97-AF65-F5344CB8AC3E}">
        <p14:creationId xmlns:p14="http://schemas.microsoft.com/office/powerpoint/2010/main" val="1977622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troles para um piloto corporativo">
            <a:extLst xmlns:a="http://schemas.openxmlformats.org/drawingml/2006/main">
              <a:ext uri="{FF2B5EF4-FFF2-40B4-BE49-F238E27FC236}">
                <a16:creationId xmlns:a16="http://schemas.microsoft.com/office/drawing/2014/main" id="{6F913CA9-0A6D-491A-AF5D-C2C1763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Controles para um piloto corporativo</a:t>
            </a:r>
          </a:p>
        </p:txBody>
      </p:sp>
      <p:sp>
        <p:nvSpPr>
          <p:cNvPr id="2" name="10 / 12">
            <a:extLst xmlns:a="http://schemas.openxmlformats.org/drawingml/2006/main">
              <a:ext uri="{FF2B5EF4-FFF2-40B4-BE49-F238E27FC236}">
                <a16:creationId xmlns:a16="http://schemas.microsoft.com/office/drawing/2014/main" id="{CA1AD10A-61BC-46DC-8091-525F2A01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3" name="Acesso e dados">
            <a:extLst xmlns:a="http://schemas.openxmlformats.org/drawingml/2006/main">
              <a:ext uri="{FF2B5EF4-FFF2-40B4-BE49-F238E27FC236}">
                <a16:creationId xmlns:a16="http://schemas.microsoft.com/office/drawing/2014/main" id="{A4502006-8A07-4CE9-A5DC-795FFF00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Acesso e dados</a:t>
            </a:r>
          </a:p>
        </p:txBody>
      </p:sp>
      <p:sp>
        <p:nvSpPr>
          <p:cNvPr id="4" name="Repositório autorizado, dados sintéticos e cr">
            <a:extLst xmlns:a="http://schemas.openxmlformats.org/drawingml/2006/main">
              <a:ext uri="{FF2B5EF4-FFF2-40B4-BE49-F238E27FC236}">
                <a16:creationId xmlns:a16="http://schemas.microsoft.com/office/drawing/2014/main" id="{C9ECFCFB-430F-43B5-92F4-4A796025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Repositório autorizado, dados sintéticos e credenciais com escopo mínimo</a:t>
            </a:r>
          </a:p>
        </p:txBody>
      </p:sp>
      <p:sp>
        <p:nvSpPr>
          <p:cNvPr id="5" name="Entrega e rastreabilidade">
            <a:extLst xmlns:a="http://schemas.openxmlformats.org/drawingml/2006/main">
              <a:ext uri="{FF2B5EF4-FFF2-40B4-BE49-F238E27FC236}">
                <a16:creationId xmlns:a16="http://schemas.microsoft.com/office/drawing/2014/main" id="{50B437F0-D743-4134-8AB1-99FEB084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Entrega e rastreabilidade</a:t>
            </a:r>
          </a:p>
        </p:txBody>
      </p:sp>
      <p:sp>
        <p:nvSpPr>
          <p:cNvPr id="6" name="PR e checks obrigatórios&#10;Aprovação independen">
            <a:extLst xmlns:a="http://schemas.openxmlformats.org/drawingml/2006/main">
              <a:ext uri="{FF2B5EF4-FFF2-40B4-BE49-F238E27FC236}">
                <a16:creationId xmlns:a16="http://schemas.microsoft.com/office/drawing/2014/main" id="{0B8DCAA5-15BA-461A-852E-2E990CA1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PR e checks obrigatórios</a:t>
            </a:r>
          </a:p>
          <a:p xmlns:a="http://schemas.openxmlformats.org/drawingml/2006/main">
            <a: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Aprovação independente prevista no piloto corporativo</a:t>
            </a:r>
          </a:p>
        </p:txBody>
      </p:sp>
      <p:sp>
        <p:nvSpPr>
          <p:cNvPr id="7" name="Consumo e operação">
            <a:extLst xmlns:a="http://schemas.openxmlformats.org/drawingml/2006/main">
              <a:ext uri="{FF2B5EF4-FFF2-40B4-BE49-F238E27FC236}">
                <a16:creationId xmlns:a16="http://schemas.microsoft.com/office/drawing/2014/main" id="{431EAE6A-3BB3-4770-B8E1-786736DC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5D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DAA"/>
                </a:solidFill>
                <a:latin typeface="Arial"/>
                <a:ea typeface="Arial"/>
                <a:cs typeface="Arial"/>
              </a:rPr>
              <a:t>Consumo e operação</a:t>
            </a:r>
          </a:p>
        </p:txBody>
      </p:sp>
      <p:sp>
        <p:nvSpPr>
          <p:cNvPr id="8" name="Timeout, tokens reportados e custo estimado">
            <a:extLst xmlns:a="http://schemas.openxmlformats.org/drawingml/2006/main">
              <a:ext uri="{FF2B5EF4-FFF2-40B4-BE49-F238E27FC236}">
                <a16:creationId xmlns:a16="http://schemas.microsoft.com/office/drawing/2014/main" id="{8D55B76F-D044-49B6-B713-A03C9522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5"/>
                </a:solidFill>
                <a:latin typeface="Arial"/>
                <a:ea typeface="Arial"/>
                <a:cs typeface="Arial"/>
              </a:rPr>
              <a:t>Timeout, tokens reportados e custo estimado</a:t>
            </a:r>
          </a:p>
        </p:txBody>
      </p:sp>
    </p:spTree>
    <p:extLst>
      <p:ext uri="{BB962C8B-B14F-4D97-AF65-F5344CB8AC3E}">
        <p14:creationId xmlns:p14="http://schemas.microsoft.com/office/powerpoint/2010/main" val="1308515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vidências da evolução atual">
            <a:extLst xmlns:a="http://schemas.openxmlformats.org/drawingml/2006/main">
              <a:ext uri="{FF2B5EF4-FFF2-40B4-BE49-F238E27FC236}">
                <a16:creationId xmlns:a16="http://schemas.microsoft.com/office/drawing/2014/main" id="{11C1C3F7-EDDF-4AEA-960A-1F211D97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45"/>
                </a:solidFill>
                <a:latin typeface="Arial"/>
                <a:ea typeface="Arial"/>
                <a:cs typeface="Arial"/>
              </a:rPr>
              <a:t>Evidências da evolução atual</a:t>
            </a:r>
          </a:p>
        </p:txBody>
      </p:sp>
      <p:sp>
        <p:nvSpPr>
          <p:cNvPr id="2" name="Estado registrado em 21/10/2026">
            <a:extLst xmlns:a="http://schemas.openxmlformats.org/drawingml/2006/main">
              <a:ext uri="{FF2B5EF4-FFF2-40B4-BE49-F238E27FC236}">
                <a16:creationId xmlns:a16="http://schemas.microsoft.com/office/drawing/2014/main" id="{6721B450-D3D4-40FA-9B00-53006E37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Estado registrado em 21/10/2026</a:t>
            </a:r>
          </a:p>
        </p:txBody>
      </p:sp>
      <p:sp>
        <p:nvSpPr>
          <p:cNvPr id="3" name="11 / 12">
            <a:extLst xmlns:a="http://schemas.openxmlformats.org/drawingml/2006/main">
              <a:ext uri="{FF2B5EF4-FFF2-40B4-BE49-F238E27FC236}">
                <a16:creationId xmlns:a16="http://schemas.microsoft.com/office/drawing/2014/main" id="{FDAD5547-0F87-4194-8D17-285F7065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8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FF02F-AEB9-432D-956F-6B3B1D15DF61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829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748665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Parte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 verificável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T w="9525">
                      <a:solidFill>
                        <a:srgbClr val="CED8E0"/>
                      </a:solidFill>
                      <a:prstDash val="solid"/>
                    </a:lnT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14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Aplicação completa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API, PostgreSQL e Docker validados por HTTP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Novo teste com PR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/oc: PR #14. @claude: PR #17, com 67 testes Java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Revisão por IA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Revisão publicada. Achados exigem verificação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Kubernetes e GPU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API e banco em kind. vLLM e ARC sem execução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Cursor</a:t>
                      </a:r>
                    </a:p>
                  </a:txBody>
                  <a:tcPr marL="133350" marR="133350" marT="142875" marB="95250" anchor="ctr">
                    <a:lnL w="9525">
                      <a:solidFill>
                        <a:srgbClr val="CED8E0"/>
                      </a:solidFill>
                      <a:prstDash val="solid"/>
                    </a:lnL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B45"/>
                          </a:solidFill>
                          <a:latin typeface="Arial"/>
                          <a:ea typeface="Arial"/>
                          <a:cs typeface="Arial"/>
                        </a:rPr>
                        <a:t>Alternativa documentada, sem teste autenticado</a:t>
                      </a:r>
                    </a:p>
                  </a:txBody>
                  <a:tcPr marL="133350" marR="133350" marT="142875" marB="95250" anchor="ctr">
                    <a:lnR w="9525">
                      <a:solidFill>
                        <a:srgbClr val="CED8E0"/>
                      </a:solidFill>
                      <a:prstDash val="solid"/>
                    </a:lnR>
                    <a:lnB w="9525">
                      <a:solidFill>
                        <a:srgbClr val="CED8E0"/>
                      </a:solidFill>
                      <a:prstDash val="solid"/>
                    </a:lnB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44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loto com resultado mensurável">
            <a:extLst xmlns:a="http://schemas.openxmlformats.org/drawingml/2006/main">
              <a:ext uri="{FF2B5EF4-FFF2-40B4-BE49-F238E27FC236}">
                <a16:creationId xmlns:a16="http://schemas.microsoft.com/office/drawing/2014/main" id="{C855C2B0-99B3-4E33-B8DF-AD235134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Piloto com resultado mensurável</a:t>
            </a:r>
          </a:p>
        </p:txBody>
      </p:sp>
      <p:sp>
        <p:nvSpPr>
          <p:cNvPr id="2" name="12 / 12">
            <a:extLst xmlns:a="http://schemas.openxmlformats.org/drawingml/2006/main">
              <a:ext uri="{FF2B5EF4-FFF2-40B4-BE49-F238E27FC236}">
                <a16:creationId xmlns:a16="http://schemas.microsoft.com/office/drawing/2014/main" id="{589C8768-5E6E-410E-A0CF-5489BB8D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341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3" name="Uma equipe. Um repositório de laboratório.">
            <a:extLst xmlns:a="http://schemas.openxmlformats.org/drawingml/2006/main">
              <a:ext uri="{FF2B5EF4-FFF2-40B4-BE49-F238E27FC236}">
                <a16:creationId xmlns:a16="http://schemas.microsoft.com/office/drawing/2014/main" id="{1DE3295A-4BBD-49AB-8C2C-7B6F203B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equipe. Um repositório de laboratório.</a:t>
            </a:r>
          </a:p>
        </p:txBody>
      </p:sp>
      <p:sp>
        <p:nvSpPr>
          <p:cNvPr id="4" name="Proposta: duas semanas e cerca de dez issues ">
            <a:extLst xmlns:a="http://schemas.openxmlformats.org/drawingml/2006/main">
              <a:ext uri="{FF2B5EF4-FFF2-40B4-BE49-F238E27FC236}">
                <a16:creationId xmlns:a16="http://schemas.microsoft.com/office/drawing/2014/main" id="{D9743EDA-2802-4FA8-B62D-5107668B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Proposta: duas semanas e cerca de dez issues pequenas</a:t>
            </a:r>
          </a:p>
        </p:txBody>
      </p:sp>
      <p:sp>
        <p:nvSpPr>
          <p:cNvPr id="5" name="Tempo de revisão e intervenções&#10;Falhas e retr">
            <a:extLst xmlns:a="http://schemas.openxmlformats.org/drawingml/2006/main">
              <a:ext uri="{FF2B5EF4-FFF2-40B4-BE49-F238E27FC236}">
                <a16:creationId xmlns:a16="http://schemas.microsoft.com/office/drawing/2014/main" id="{AA983FBE-D04A-479C-94B5-34E39153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 de revisão e intervenções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Falhas e retrabalho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Falsos positivos nos comentários da IA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 estimado por tarefa concluída</a:t>
            </a:r>
          </a:p>
        </p:txBody>
      </p:sp>
      <p:sp>
        <p:nvSpPr>
          <p:cNvPr id="6" name="Escala condicionada às evidências e à avaliaç">
            <a:extLst xmlns:a="http://schemas.openxmlformats.org/drawingml/2006/main">
              <a:ext uri="{FF2B5EF4-FFF2-40B4-BE49-F238E27FC236}">
                <a16:creationId xmlns:a16="http://schemas.microsoft.com/office/drawing/2014/main" id="{0195BE93-ECAB-4194-9006-BD3FE4B6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BD3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D3E5"/>
                </a:solidFill>
                <a:latin typeface="Arial"/>
                <a:ea typeface="Arial"/>
                <a:cs typeface="Arial"/>
              </a:rPr>
              <a:t>Escala condicionada às evidências e à avaliação interna</a:t>
            </a:r>
          </a:p>
        </p:txBody>
      </p:sp>
    </p:spTree>
    <p:extLst>
      <p:ext uri="{BB962C8B-B14F-4D97-AF65-F5344CB8AC3E}">
        <p14:creationId xmlns:p14="http://schemas.microsoft.com/office/powerpoint/2010/main" val="1167975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2026-10-21T13:49:00.4540000Z</dcterms:created>
  <dcterms:modified xsi:type="dcterms:W3CDTF">2026-10-21T13:49:00.4540000Z</dcterms:modified>
</coreProperties>
</file>